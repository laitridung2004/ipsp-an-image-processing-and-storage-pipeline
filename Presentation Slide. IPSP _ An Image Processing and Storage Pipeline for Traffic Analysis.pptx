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</p:sldIdLst>
  <p:sldSz cx="18288000" cy="10287000"/>
  <p:notesSz cx="6858000" cy="9144000"/>
  <p:embeddedFontLst>
    <p:embeddedFont>
      <p:font typeface="Lato Bold" charset="1" panose="020F0502020204030203"/>
      <p:regular r:id="rId43"/>
    </p:embeddedFont>
    <p:embeddedFont>
      <p:font typeface="Montserrat Bold" charset="1" panose="00000800000000000000"/>
      <p:regular r:id="rId44"/>
    </p:embeddedFont>
    <p:embeddedFont>
      <p:font typeface="Montserrat" charset="1" panose="00000500000000000000"/>
      <p:regular r:id="rId45"/>
    </p:embeddedFont>
    <p:embeddedFont>
      <p:font typeface="Montserrat Italics" charset="1" panose="00000500000000000000"/>
      <p:regular r:id="rId46"/>
    </p:embeddedFont>
    <p:embeddedFont>
      <p:font typeface="Futura" charset="1" panose="020B0502020204020303"/>
      <p:regular r:id="rId47"/>
    </p:embeddedFont>
    <p:embeddedFont>
      <p:font typeface="Montserrat Bold Italics" charset="1" panose="00000800000000000000"/>
      <p:regular r:id="rId48"/>
    </p:embeddedFont>
    <p:embeddedFont>
      <p:font typeface="Futura Ultra-Bold" charset="1" panose="020B0802020204020204"/>
      <p:regular r:id="rId4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slides/slide36.xml" Type="http://schemas.openxmlformats.org/officeDocument/2006/relationships/slide"/><Relationship Id="rId42" Target="slides/slide37.xml" Type="http://schemas.openxmlformats.org/officeDocument/2006/relationships/slide"/><Relationship Id="rId43" Target="fonts/font43.fntdata" Type="http://schemas.openxmlformats.org/officeDocument/2006/relationships/font"/><Relationship Id="rId44" Target="fonts/font44.fntdata" Type="http://schemas.openxmlformats.org/officeDocument/2006/relationships/font"/><Relationship Id="rId45" Target="fonts/font45.fntdata" Type="http://schemas.openxmlformats.org/officeDocument/2006/relationships/font"/><Relationship Id="rId46" Target="fonts/font46.fntdata" Type="http://schemas.openxmlformats.org/officeDocument/2006/relationships/font"/><Relationship Id="rId47" Target="fonts/font47.fntdata" Type="http://schemas.openxmlformats.org/officeDocument/2006/relationships/font"/><Relationship Id="rId48" Target="fonts/font48.fntdata" Type="http://schemas.openxmlformats.org/officeDocument/2006/relationships/font"/><Relationship Id="rId49" Target="fonts/font49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.png" Type="http://schemas.openxmlformats.org/officeDocument/2006/relationships/image"/><Relationship Id="rId11" Target="../media/image15.png" Type="http://schemas.openxmlformats.org/officeDocument/2006/relationships/image"/><Relationship Id="rId2" Target="../media/image5.pn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Relationship Id="rId5" Target="../media/image9.png" Type="http://schemas.openxmlformats.org/officeDocument/2006/relationships/image"/><Relationship Id="rId6" Target="../media/image10.png" Type="http://schemas.openxmlformats.org/officeDocument/2006/relationships/image"/><Relationship Id="rId7" Target="../media/image11.svg" Type="http://schemas.openxmlformats.org/officeDocument/2006/relationships/image"/><Relationship Id="rId8" Target="../media/image12.png" Type="http://schemas.openxmlformats.org/officeDocument/2006/relationships/image"/><Relationship Id="rId9" Target="../media/image1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16.jpeg" Type="http://schemas.openxmlformats.org/officeDocument/2006/relationships/image"/><Relationship Id="rId4" Target="../media/image17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16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18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3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79951" y="497070"/>
            <a:ext cx="4761550" cy="1429463"/>
          </a:xfrm>
          <a:custGeom>
            <a:avLst/>
            <a:gdLst/>
            <a:ahLst/>
            <a:cxnLst/>
            <a:rect r="r" b="b" t="t" l="l"/>
            <a:pathLst>
              <a:path h="1429463" w="4761550">
                <a:moveTo>
                  <a:pt x="0" y="0"/>
                </a:moveTo>
                <a:lnTo>
                  <a:pt x="4761550" y="0"/>
                </a:lnTo>
                <a:lnTo>
                  <a:pt x="4761550" y="1429463"/>
                </a:lnTo>
                <a:lnTo>
                  <a:pt x="0" y="14294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3734767" y="9739312"/>
            <a:ext cx="4114800" cy="547688"/>
            <a:chOff x="0" y="0"/>
            <a:chExt cx="5486400" cy="7302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66675"/>
              <a:ext cx="5486400" cy="79692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r">
                <a:lnSpc>
                  <a:spcPts val="2700"/>
                </a:lnSpc>
              </a:pPr>
              <a:r>
                <a:rPr lang="en-US" sz="1800" b="true">
                  <a:solidFill>
                    <a:srgbClr val="C00000"/>
                  </a:solidFill>
                  <a:latin typeface="Lato Bold"/>
                  <a:ea typeface="Lato Bold"/>
                  <a:cs typeface="Lato Bold"/>
                  <a:sym typeface="Lato Bold"/>
                </a:rPr>
                <a:t>3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764207" y="2662431"/>
            <a:ext cx="14469132" cy="902399"/>
            <a:chOff x="0" y="0"/>
            <a:chExt cx="19292176" cy="120319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9292176" cy="1203198"/>
            </a:xfrm>
            <a:custGeom>
              <a:avLst/>
              <a:gdLst/>
              <a:ahLst/>
              <a:cxnLst/>
              <a:rect r="r" b="b" t="t" l="l"/>
              <a:pathLst>
                <a:path h="1203198" w="19292176">
                  <a:moveTo>
                    <a:pt x="0" y="0"/>
                  </a:moveTo>
                  <a:lnTo>
                    <a:pt x="19292176" y="0"/>
                  </a:lnTo>
                  <a:lnTo>
                    <a:pt x="19292176" y="1203198"/>
                  </a:lnTo>
                  <a:lnTo>
                    <a:pt x="0" y="120319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85725"/>
              <a:ext cx="19292176" cy="111747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4500"/>
                </a:lnSpc>
              </a:pPr>
              <a:r>
                <a:rPr lang="en-US" sz="4500" b="true">
                  <a:solidFill>
                    <a:srgbClr val="FF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IPSP: An image processing and storage pipeline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64207" y="4916877"/>
            <a:ext cx="4994210" cy="3459099"/>
            <a:chOff x="0" y="0"/>
            <a:chExt cx="6658947" cy="461213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658947" cy="4612132"/>
            </a:xfrm>
            <a:custGeom>
              <a:avLst/>
              <a:gdLst/>
              <a:ahLst/>
              <a:cxnLst/>
              <a:rect r="r" b="b" t="t" l="l"/>
              <a:pathLst>
                <a:path h="4612132" w="6658947">
                  <a:moveTo>
                    <a:pt x="0" y="0"/>
                  </a:moveTo>
                  <a:lnTo>
                    <a:pt x="6658947" y="0"/>
                  </a:lnTo>
                  <a:lnTo>
                    <a:pt x="6658947" y="4612132"/>
                  </a:lnTo>
                  <a:lnTo>
                    <a:pt x="0" y="461213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85725"/>
              <a:ext cx="6658947" cy="4697857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4500"/>
                </a:lnSpc>
              </a:pPr>
              <a:r>
                <a:rPr lang="en-US" sz="3000" b="true">
                  <a:solidFill>
                    <a:srgbClr val="FF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Vũ Hữu An</a:t>
              </a:r>
            </a:p>
            <a:p>
              <a:pPr algn="l">
                <a:lnSpc>
                  <a:spcPts val="4500"/>
                </a:lnSpc>
              </a:pPr>
              <a:r>
                <a:rPr lang="en-US" sz="3000" b="true">
                  <a:solidFill>
                    <a:srgbClr val="FF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Lưu Thiện Việt Cường</a:t>
              </a:r>
            </a:p>
            <a:p>
              <a:pPr algn="l">
                <a:lnSpc>
                  <a:spcPts val="4500"/>
                </a:lnSpc>
              </a:pPr>
              <a:r>
                <a:rPr lang="en-US" sz="3000" b="true">
                  <a:solidFill>
                    <a:srgbClr val="FF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Đàm Quang Đức</a:t>
              </a:r>
            </a:p>
            <a:p>
              <a:pPr algn="l">
                <a:lnSpc>
                  <a:spcPts val="4500"/>
                </a:lnSpc>
              </a:pPr>
              <a:r>
                <a:rPr lang="en-US" sz="3000" b="true">
                  <a:solidFill>
                    <a:srgbClr val="FF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Lại Trí Dũng</a:t>
              </a:r>
            </a:p>
            <a:p>
              <a:pPr algn="l">
                <a:lnSpc>
                  <a:spcPts val="4500"/>
                </a:lnSpc>
              </a:pPr>
              <a:r>
                <a:rPr lang="en-US" sz="3000" b="true">
                  <a:solidFill>
                    <a:srgbClr val="FF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Nguyễn Trọng Tâm</a:t>
              </a:r>
            </a:p>
            <a:p>
              <a:pPr algn="l">
                <a:lnSpc>
                  <a:spcPts val="4500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5077547" y="4916877"/>
            <a:ext cx="2921226" cy="3459099"/>
            <a:chOff x="0" y="0"/>
            <a:chExt cx="3894968" cy="461213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894968" cy="4612132"/>
            </a:xfrm>
            <a:custGeom>
              <a:avLst/>
              <a:gdLst/>
              <a:ahLst/>
              <a:cxnLst/>
              <a:rect r="r" b="b" t="t" l="l"/>
              <a:pathLst>
                <a:path h="4612132" w="3894968">
                  <a:moveTo>
                    <a:pt x="0" y="0"/>
                  </a:moveTo>
                  <a:lnTo>
                    <a:pt x="3894968" y="0"/>
                  </a:lnTo>
                  <a:lnTo>
                    <a:pt x="3894968" y="4612132"/>
                  </a:lnTo>
                  <a:lnTo>
                    <a:pt x="0" y="461213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85725"/>
              <a:ext cx="3894968" cy="4697857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r">
                <a:lnSpc>
                  <a:spcPts val="4500"/>
                </a:lnSpc>
              </a:pPr>
              <a:r>
                <a:rPr lang="en-US" sz="3000" b="true">
                  <a:solidFill>
                    <a:srgbClr val="FF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20225467</a:t>
              </a:r>
            </a:p>
            <a:p>
              <a:pPr algn="r">
                <a:lnSpc>
                  <a:spcPts val="4500"/>
                </a:lnSpc>
              </a:pPr>
              <a:r>
                <a:rPr lang="en-US" sz="3000" b="true">
                  <a:solidFill>
                    <a:srgbClr val="FF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20225477</a:t>
              </a:r>
            </a:p>
            <a:p>
              <a:pPr algn="r">
                <a:lnSpc>
                  <a:spcPts val="4500"/>
                </a:lnSpc>
              </a:pPr>
              <a:r>
                <a:rPr lang="en-US" sz="3000" b="true">
                  <a:solidFill>
                    <a:srgbClr val="FF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20225483</a:t>
              </a:r>
            </a:p>
            <a:p>
              <a:pPr algn="r">
                <a:lnSpc>
                  <a:spcPts val="4500"/>
                </a:lnSpc>
              </a:pPr>
              <a:r>
                <a:rPr lang="en-US" sz="3000" b="true">
                  <a:solidFill>
                    <a:srgbClr val="FF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20225486</a:t>
              </a:r>
            </a:p>
            <a:p>
              <a:pPr algn="r">
                <a:lnSpc>
                  <a:spcPts val="4500"/>
                </a:lnSpc>
              </a:pPr>
              <a:r>
                <a:rPr lang="en-US" sz="3000" b="true">
                  <a:solidFill>
                    <a:srgbClr val="FF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20225527</a:t>
              </a:r>
            </a:p>
            <a:p>
              <a:pPr algn="r">
                <a:lnSpc>
                  <a:spcPts val="4500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764207" y="3890897"/>
            <a:ext cx="14469132" cy="1521021"/>
            <a:chOff x="0" y="0"/>
            <a:chExt cx="19292176" cy="202802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9292176" cy="2028028"/>
            </a:xfrm>
            <a:custGeom>
              <a:avLst/>
              <a:gdLst/>
              <a:ahLst/>
              <a:cxnLst/>
              <a:rect r="r" b="b" t="t" l="l"/>
              <a:pathLst>
                <a:path h="2028028" w="19292176">
                  <a:moveTo>
                    <a:pt x="0" y="0"/>
                  </a:moveTo>
                  <a:lnTo>
                    <a:pt x="19292176" y="0"/>
                  </a:lnTo>
                  <a:lnTo>
                    <a:pt x="19292176" y="2028028"/>
                  </a:lnTo>
                  <a:lnTo>
                    <a:pt x="0" y="202802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85725"/>
              <a:ext cx="19292176" cy="194230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4500"/>
                </a:lnSpc>
              </a:pPr>
              <a:r>
                <a:rPr lang="en-US" sz="4500" b="true">
                  <a:solidFill>
                    <a:srgbClr val="FF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Group 5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83621" y="1605029"/>
            <a:ext cx="15790751" cy="1220434"/>
            <a:chOff x="0" y="0"/>
            <a:chExt cx="21054335" cy="1627245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594955"/>
              <a:ext cx="21054335" cy="1032290"/>
              <a:chOff x="0" y="0"/>
              <a:chExt cx="16723350" cy="819943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12437" y="6548"/>
                <a:ext cx="16698430" cy="806794"/>
              </a:xfrm>
              <a:custGeom>
                <a:avLst/>
                <a:gdLst/>
                <a:ahLst/>
                <a:cxnLst/>
                <a:rect r="r" b="b" t="t" l="l"/>
                <a:pathLst>
                  <a:path h="806794" w="16698430">
                    <a:moveTo>
                      <a:pt x="0" y="0"/>
                    </a:moveTo>
                    <a:lnTo>
                      <a:pt x="16698430" y="0"/>
                    </a:lnTo>
                    <a:lnTo>
                      <a:pt x="16698430" y="806794"/>
                    </a:lnTo>
                    <a:lnTo>
                      <a:pt x="0" y="806794"/>
                    </a:lnTo>
                    <a:close/>
                  </a:path>
                </a:pathLst>
              </a:custGeom>
              <a:solidFill>
                <a:srgbClr val="F29C50">
                  <a:alpha val="80392"/>
                </a:srgbClr>
              </a:solidFill>
            </p:spPr>
          </p:sp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16723305" cy="819890"/>
              </a:xfrm>
              <a:custGeom>
                <a:avLst/>
                <a:gdLst/>
                <a:ahLst/>
                <a:cxnLst/>
                <a:rect r="r" b="b" t="t" l="l"/>
                <a:pathLst>
                  <a:path h="819890" w="16723305">
                    <a:moveTo>
                      <a:pt x="12437" y="0"/>
                    </a:moveTo>
                    <a:lnTo>
                      <a:pt x="16710867" y="0"/>
                    </a:lnTo>
                    <a:cubicBezTo>
                      <a:pt x="16717699" y="0"/>
                      <a:pt x="16723305" y="2951"/>
                      <a:pt x="16723305" y="6548"/>
                    </a:cubicBezTo>
                    <a:lnTo>
                      <a:pt x="16723305" y="813342"/>
                    </a:lnTo>
                    <a:cubicBezTo>
                      <a:pt x="16723305" y="816939"/>
                      <a:pt x="16717699" y="819890"/>
                      <a:pt x="16710867" y="819890"/>
                    </a:cubicBezTo>
                    <a:lnTo>
                      <a:pt x="12437" y="819890"/>
                    </a:lnTo>
                    <a:cubicBezTo>
                      <a:pt x="5605" y="819890"/>
                      <a:pt x="0" y="816939"/>
                      <a:pt x="0" y="813342"/>
                    </a:cubicBezTo>
                    <a:lnTo>
                      <a:pt x="0" y="6548"/>
                    </a:lnTo>
                    <a:cubicBezTo>
                      <a:pt x="0" y="2951"/>
                      <a:pt x="5605" y="0"/>
                      <a:pt x="12437" y="0"/>
                    </a:cubicBezTo>
                    <a:moveTo>
                      <a:pt x="12437" y="13096"/>
                    </a:moveTo>
                    <a:lnTo>
                      <a:pt x="12437" y="6548"/>
                    </a:lnTo>
                    <a:lnTo>
                      <a:pt x="24874" y="6548"/>
                    </a:lnTo>
                    <a:lnTo>
                      <a:pt x="24874" y="813342"/>
                    </a:lnTo>
                    <a:lnTo>
                      <a:pt x="12437" y="813342"/>
                    </a:lnTo>
                    <a:lnTo>
                      <a:pt x="12437" y="806794"/>
                    </a:lnTo>
                    <a:lnTo>
                      <a:pt x="16710867" y="806794"/>
                    </a:lnTo>
                    <a:lnTo>
                      <a:pt x="16710867" y="813342"/>
                    </a:lnTo>
                    <a:lnTo>
                      <a:pt x="16698429" y="813342"/>
                    </a:lnTo>
                    <a:lnTo>
                      <a:pt x="16698429" y="6548"/>
                    </a:lnTo>
                    <a:lnTo>
                      <a:pt x="16710867" y="6548"/>
                    </a:lnTo>
                    <a:lnTo>
                      <a:pt x="16710867" y="13096"/>
                    </a:lnTo>
                    <a:lnTo>
                      <a:pt x="12437" y="13096"/>
                    </a:lnTo>
                    <a:close/>
                  </a:path>
                </a:pathLst>
              </a:custGeom>
              <a:solidFill>
                <a:srgbClr val="44546A"/>
              </a:solidFill>
            </p:spPr>
          </p:sp>
        </p:grpSp>
        <p:grpSp>
          <p:nvGrpSpPr>
            <p:cNvPr name="Group 7" id="7"/>
            <p:cNvGrpSpPr/>
            <p:nvPr/>
          </p:nvGrpSpPr>
          <p:grpSpPr>
            <a:xfrm rot="0">
              <a:off x="1051148" y="0"/>
              <a:ext cx="18048710" cy="1206423"/>
              <a:chOff x="0" y="0"/>
              <a:chExt cx="14335998" cy="958256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13699" y="6548"/>
                <a:ext cx="14308458" cy="945133"/>
              </a:xfrm>
              <a:custGeom>
                <a:avLst/>
                <a:gdLst/>
                <a:ahLst/>
                <a:cxnLst/>
                <a:rect r="r" b="b" t="t" l="l"/>
                <a:pathLst>
                  <a:path h="945133" w="14308458">
                    <a:moveTo>
                      <a:pt x="0" y="157522"/>
                    </a:moveTo>
                    <a:cubicBezTo>
                      <a:pt x="0" y="70553"/>
                      <a:pt x="149340" y="0"/>
                      <a:pt x="333603" y="0"/>
                    </a:cubicBezTo>
                    <a:lnTo>
                      <a:pt x="13975047" y="0"/>
                    </a:lnTo>
                    <a:cubicBezTo>
                      <a:pt x="14159310" y="0"/>
                      <a:pt x="14308458" y="70553"/>
                      <a:pt x="14308458" y="157522"/>
                    </a:cubicBezTo>
                    <a:lnTo>
                      <a:pt x="14308458" y="787611"/>
                    </a:lnTo>
                    <a:cubicBezTo>
                      <a:pt x="14308458" y="874581"/>
                      <a:pt x="14159117" y="945134"/>
                      <a:pt x="13975047" y="945134"/>
                    </a:cubicBezTo>
                    <a:lnTo>
                      <a:pt x="333603" y="945134"/>
                    </a:lnTo>
                    <a:cubicBezTo>
                      <a:pt x="149340" y="945134"/>
                      <a:pt x="0" y="874581"/>
                      <a:pt x="0" y="787611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14336032" cy="958230"/>
              </a:xfrm>
              <a:custGeom>
                <a:avLst/>
                <a:gdLst/>
                <a:ahLst/>
                <a:cxnLst/>
                <a:rect r="r" b="b" t="t" l="l"/>
                <a:pathLst>
                  <a:path h="958230" w="14336032">
                    <a:moveTo>
                      <a:pt x="0" y="164070"/>
                    </a:moveTo>
                    <a:cubicBezTo>
                      <a:pt x="0" y="73412"/>
                      <a:pt x="155514" y="0"/>
                      <a:pt x="347302" y="0"/>
                    </a:cubicBezTo>
                    <a:lnTo>
                      <a:pt x="13988746" y="0"/>
                    </a:lnTo>
                    <a:lnTo>
                      <a:pt x="13988746" y="6548"/>
                    </a:lnTo>
                    <a:lnTo>
                      <a:pt x="13988746" y="0"/>
                    </a:lnTo>
                    <a:cubicBezTo>
                      <a:pt x="14180341" y="0"/>
                      <a:pt x="14336032" y="73412"/>
                      <a:pt x="14336032" y="164070"/>
                    </a:cubicBezTo>
                    <a:lnTo>
                      <a:pt x="14322349" y="164070"/>
                    </a:lnTo>
                    <a:lnTo>
                      <a:pt x="14336032" y="164070"/>
                    </a:lnTo>
                    <a:lnTo>
                      <a:pt x="14336032" y="794159"/>
                    </a:lnTo>
                    <a:lnTo>
                      <a:pt x="14322349" y="794159"/>
                    </a:lnTo>
                    <a:lnTo>
                      <a:pt x="14336032" y="794159"/>
                    </a:lnTo>
                    <a:cubicBezTo>
                      <a:pt x="14336032" y="884818"/>
                      <a:pt x="14180534" y="958230"/>
                      <a:pt x="13988746" y="958230"/>
                    </a:cubicBezTo>
                    <a:lnTo>
                      <a:pt x="13988746" y="951682"/>
                    </a:lnTo>
                    <a:lnTo>
                      <a:pt x="13988746" y="958230"/>
                    </a:lnTo>
                    <a:lnTo>
                      <a:pt x="347302" y="958230"/>
                    </a:lnTo>
                    <a:lnTo>
                      <a:pt x="347302" y="951682"/>
                    </a:lnTo>
                    <a:lnTo>
                      <a:pt x="347302" y="958230"/>
                    </a:lnTo>
                    <a:cubicBezTo>
                      <a:pt x="155707" y="958230"/>
                      <a:pt x="0" y="884818"/>
                      <a:pt x="0" y="794159"/>
                    </a:cubicBezTo>
                    <a:lnTo>
                      <a:pt x="0" y="164070"/>
                    </a:lnTo>
                    <a:lnTo>
                      <a:pt x="13699" y="164070"/>
                    </a:lnTo>
                    <a:lnTo>
                      <a:pt x="0" y="164070"/>
                    </a:lnTo>
                    <a:moveTo>
                      <a:pt x="27398" y="164070"/>
                    </a:moveTo>
                    <a:lnTo>
                      <a:pt x="27398" y="794159"/>
                    </a:lnTo>
                    <a:lnTo>
                      <a:pt x="13699" y="794159"/>
                    </a:lnTo>
                    <a:lnTo>
                      <a:pt x="27398" y="794159"/>
                    </a:lnTo>
                    <a:cubicBezTo>
                      <a:pt x="27398" y="877439"/>
                      <a:pt x="170371" y="945133"/>
                      <a:pt x="347109" y="945133"/>
                    </a:cubicBezTo>
                    <a:lnTo>
                      <a:pt x="13988746" y="945133"/>
                    </a:lnTo>
                    <a:cubicBezTo>
                      <a:pt x="14165484" y="945133"/>
                      <a:pt x="14308457" y="877439"/>
                      <a:pt x="14308457" y="794159"/>
                    </a:cubicBezTo>
                    <a:lnTo>
                      <a:pt x="14308457" y="164070"/>
                    </a:lnTo>
                    <a:cubicBezTo>
                      <a:pt x="14308457" y="80790"/>
                      <a:pt x="14165484" y="13096"/>
                      <a:pt x="13988746" y="13096"/>
                    </a:cubicBezTo>
                    <a:lnTo>
                      <a:pt x="347302" y="13096"/>
                    </a:lnTo>
                    <a:lnTo>
                      <a:pt x="347302" y="6548"/>
                    </a:lnTo>
                    <a:lnTo>
                      <a:pt x="347302" y="13096"/>
                    </a:lnTo>
                    <a:cubicBezTo>
                      <a:pt x="170371" y="13096"/>
                      <a:pt x="27398" y="80790"/>
                      <a:pt x="27398" y="164070"/>
                    </a:cubicBezTo>
                    <a:close/>
                  </a:path>
                </a:pathLst>
              </a:custGeom>
              <a:solidFill>
                <a:srgbClr val="3D4B5F"/>
              </a:solidFill>
            </p:spPr>
          </p:sp>
        </p:grpSp>
        <p:grpSp>
          <p:nvGrpSpPr>
            <p:cNvPr name="Group 10" id="10"/>
            <p:cNvGrpSpPr/>
            <p:nvPr/>
          </p:nvGrpSpPr>
          <p:grpSpPr>
            <a:xfrm rot="0">
              <a:off x="1161473" y="58086"/>
              <a:ext cx="17353558" cy="1090251"/>
              <a:chOff x="0" y="0"/>
              <a:chExt cx="13783843" cy="865981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3783842" cy="865981"/>
              </a:xfrm>
              <a:custGeom>
                <a:avLst/>
                <a:gdLst/>
                <a:ahLst/>
                <a:cxnLst/>
                <a:rect r="r" b="b" t="t" l="l"/>
                <a:pathLst>
                  <a:path h="865981" w="13783842">
                    <a:moveTo>
                      <a:pt x="0" y="0"/>
                    </a:moveTo>
                    <a:lnTo>
                      <a:pt x="13783842" y="0"/>
                    </a:lnTo>
                    <a:lnTo>
                      <a:pt x="13783842" y="865981"/>
                    </a:lnTo>
                    <a:lnTo>
                      <a:pt x="0" y="86598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38100"/>
                <a:ext cx="13783843" cy="827881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239"/>
                  </a:lnSpc>
                </a:pPr>
                <a:r>
                  <a:rPr lang="en-US" sz="2999" b="true">
                    <a:solidFill>
                      <a:srgbClr val="000000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rPr>
                  <a:t>I. ABOUT OUR PROBLEM</a:t>
                </a:r>
              </a:p>
            </p:txBody>
          </p:sp>
        </p:grpSp>
      </p:grpSp>
      <p:grpSp>
        <p:nvGrpSpPr>
          <p:cNvPr name="Group 13" id="13"/>
          <p:cNvGrpSpPr/>
          <p:nvPr/>
        </p:nvGrpSpPr>
        <p:grpSpPr>
          <a:xfrm rot="0">
            <a:off x="1383621" y="3163507"/>
            <a:ext cx="15790751" cy="1220434"/>
            <a:chOff x="0" y="0"/>
            <a:chExt cx="21054335" cy="1627245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594955"/>
              <a:ext cx="21054335" cy="1032290"/>
              <a:chOff x="0" y="0"/>
              <a:chExt cx="16723350" cy="819943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12437" y="6548"/>
                <a:ext cx="16698430" cy="806794"/>
              </a:xfrm>
              <a:custGeom>
                <a:avLst/>
                <a:gdLst/>
                <a:ahLst/>
                <a:cxnLst/>
                <a:rect r="r" b="b" t="t" l="l"/>
                <a:pathLst>
                  <a:path h="806794" w="16698430">
                    <a:moveTo>
                      <a:pt x="0" y="0"/>
                    </a:moveTo>
                    <a:lnTo>
                      <a:pt x="16698430" y="0"/>
                    </a:lnTo>
                    <a:lnTo>
                      <a:pt x="16698430" y="806794"/>
                    </a:lnTo>
                    <a:lnTo>
                      <a:pt x="0" y="806794"/>
                    </a:lnTo>
                    <a:close/>
                  </a:path>
                </a:pathLst>
              </a:custGeom>
              <a:solidFill>
                <a:srgbClr val="F29C50">
                  <a:alpha val="80392"/>
                </a:srgbClr>
              </a:solidFill>
            </p:spPr>
          </p:sp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16723305" cy="819890"/>
              </a:xfrm>
              <a:custGeom>
                <a:avLst/>
                <a:gdLst/>
                <a:ahLst/>
                <a:cxnLst/>
                <a:rect r="r" b="b" t="t" l="l"/>
                <a:pathLst>
                  <a:path h="819890" w="16723305">
                    <a:moveTo>
                      <a:pt x="12437" y="0"/>
                    </a:moveTo>
                    <a:lnTo>
                      <a:pt x="16710867" y="0"/>
                    </a:lnTo>
                    <a:cubicBezTo>
                      <a:pt x="16717699" y="0"/>
                      <a:pt x="16723305" y="2951"/>
                      <a:pt x="16723305" y="6548"/>
                    </a:cubicBezTo>
                    <a:lnTo>
                      <a:pt x="16723305" y="813342"/>
                    </a:lnTo>
                    <a:cubicBezTo>
                      <a:pt x="16723305" y="816939"/>
                      <a:pt x="16717699" y="819890"/>
                      <a:pt x="16710867" y="819890"/>
                    </a:cubicBezTo>
                    <a:lnTo>
                      <a:pt x="12437" y="819890"/>
                    </a:lnTo>
                    <a:cubicBezTo>
                      <a:pt x="5605" y="819890"/>
                      <a:pt x="0" y="816939"/>
                      <a:pt x="0" y="813342"/>
                    </a:cubicBezTo>
                    <a:lnTo>
                      <a:pt x="0" y="6548"/>
                    </a:lnTo>
                    <a:cubicBezTo>
                      <a:pt x="0" y="2951"/>
                      <a:pt x="5605" y="0"/>
                      <a:pt x="12437" y="0"/>
                    </a:cubicBezTo>
                    <a:moveTo>
                      <a:pt x="12437" y="13096"/>
                    </a:moveTo>
                    <a:lnTo>
                      <a:pt x="12437" y="6548"/>
                    </a:lnTo>
                    <a:lnTo>
                      <a:pt x="24874" y="6548"/>
                    </a:lnTo>
                    <a:lnTo>
                      <a:pt x="24874" y="813342"/>
                    </a:lnTo>
                    <a:lnTo>
                      <a:pt x="12437" y="813342"/>
                    </a:lnTo>
                    <a:lnTo>
                      <a:pt x="12437" y="806794"/>
                    </a:lnTo>
                    <a:lnTo>
                      <a:pt x="16710867" y="806794"/>
                    </a:lnTo>
                    <a:lnTo>
                      <a:pt x="16710867" y="813342"/>
                    </a:lnTo>
                    <a:lnTo>
                      <a:pt x="16698429" y="813342"/>
                    </a:lnTo>
                    <a:lnTo>
                      <a:pt x="16698429" y="6548"/>
                    </a:lnTo>
                    <a:lnTo>
                      <a:pt x="16710867" y="6548"/>
                    </a:lnTo>
                    <a:lnTo>
                      <a:pt x="16710867" y="13096"/>
                    </a:lnTo>
                    <a:lnTo>
                      <a:pt x="12437" y="13096"/>
                    </a:lnTo>
                    <a:close/>
                  </a:path>
                </a:pathLst>
              </a:custGeom>
              <a:solidFill>
                <a:srgbClr val="44546A"/>
              </a:solidFill>
            </p:spPr>
          </p:sp>
        </p:grpSp>
        <p:grpSp>
          <p:nvGrpSpPr>
            <p:cNvPr name="Group 17" id="17"/>
            <p:cNvGrpSpPr/>
            <p:nvPr/>
          </p:nvGrpSpPr>
          <p:grpSpPr>
            <a:xfrm rot="0">
              <a:off x="1051148" y="0"/>
              <a:ext cx="18048710" cy="1206423"/>
              <a:chOff x="0" y="0"/>
              <a:chExt cx="14335998" cy="958256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13699" y="6548"/>
                <a:ext cx="14308458" cy="945133"/>
              </a:xfrm>
              <a:custGeom>
                <a:avLst/>
                <a:gdLst/>
                <a:ahLst/>
                <a:cxnLst/>
                <a:rect r="r" b="b" t="t" l="l"/>
                <a:pathLst>
                  <a:path h="945133" w="14308458">
                    <a:moveTo>
                      <a:pt x="0" y="157522"/>
                    </a:moveTo>
                    <a:cubicBezTo>
                      <a:pt x="0" y="70553"/>
                      <a:pt x="149340" y="0"/>
                      <a:pt x="333603" y="0"/>
                    </a:cubicBezTo>
                    <a:lnTo>
                      <a:pt x="13975047" y="0"/>
                    </a:lnTo>
                    <a:cubicBezTo>
                      <a:pt x="14159310" y="0"/>
                      <a:pt x="14308458" y="70553"/>
                      <a:pt x="14308458" y="157522"/>
                    </a:cubicBezTo>
                    <a:lnTo>
                      <a:pt x="14308458" y="787611"/>
                    </a:lnTo>
                    <a:cubicBezTo>
                      <a:pt x="14308458" y="874581"/>
                      <a:pt x="14159117" y="945134"/>
                      <a:pt x="13975047" y="945134"/>
                    </a:cubicBezTo>
                    <a:lnTo>
                      <a:pt x="333603" y="945134"/>
                    </a:lnTo>
                    <a:cubicBezTo>
                      <a:pt x="149340" y="945134"/>
                      <a:pt x="0" y="874581"/>
                      <a:pt x="0" y="787611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14336032" cy="958230"/>
              </a:xfrm>
              <a:custGeom>
                <a:avLst/>
                <a:gdLst/>
                <a:ahLst/>
                <a:cxnLst/>
                <a:rect r="r" b="b" t="t" l="l"/>
                <a:pathLst>
                  <a:path h="958230" w="14336032">
                    <a:moveTo>
                      <a:pt x="0" y="164070"/>
                    </a:moveTo>
                    <a:cubicBezTo>
                      <a:pt x="0" y="73412"/>
                      <a:pt x="155514" y="0"/>
                      <a:pt x="347302" y="0"/>
                    </a:cubicBezTo>
                    <a:lnTo>
                      <a:pt x="13988746" y="0"/>
                    </a:lnTo>
                    <a:lnTo>
                      <a:pt x="13988746" y="6548"/>
                    </a:lnTo>
                    <a:lnTo>
                      <a:pt x="13988746" y="0"/>
                    </a:lnTo>
                    <a:cubicBezTo>
                      <a:pt x="14180341" y="0"/>
                      <a:pt x="14336032" y="73412"/>
                      <a:pt x="14336032" y="164070"/>
                    </a:cubicBezTo>
                    <a:lnTo>
                      <a:pt x="14322349" y="164070"/>
                    </a:lnTo>
                    <a:lnTo>
                      <a:pt x="14336032" y="164070"/>
                    </a:lnTo>
                    <a:lnTo>
                      <a:pt x="14336032" y="794159"/>
                    </a:lnTo>
                    <a:lnTo>
                      <a:pt x="14322349" y="794159"/>
                    </a:lnTo>
                    <a:lnTo>
                      <a:pt x="14336032" y="794159"/>
                    </a:lnTo>
                    <a:cubicBezTo>
                      <a:pt x="14336032" y="884818"/>
                      <a:pt x="14180534" y="958230"/>
                      <a:pt x="13988746" y="958230"/>
                    </a:cubicBezTo>
                    <a:lnTo>
                      <a:pt x="13988746" y="951682"/>
                    </a:lnTo>
                    <a:lnTo>
                      <a:pt x="13988746" y="958230"/>
                    </a:lnTo>
                    <a:lnTo>
                      <a:pt x="347302" y="958230"/>
                    </a:lnTo>
                    <a:lnTo>
                      <a:pt x="347302" y="951682"/>
                    </a:lnTo>
                    <a:lnTo>
                      <a:pt x="347302" y="958230"/>
                    </a:lnTo>
                    <a:cubicBezTo>
                      <a:pt x="155707" y="958230"/>
                      <a:pt x="0" y="884818"/>
                      <a:pt x="0" y="794159"/>
                    </a:cubicBezTo>
                    <a:lnTo>
                      <a:pt x="0" y="164070"/>
                    </a:lnTo>
                    <a:lnTo>
                      <a:pt x="13699" y="164070"/>
                    </a:lnTo>
                    <a:lnTo>
                      <a:pt x="0" y="164070"/>
                    </a:lnTo>
                    <a:moveTo>
                      <a:pt x="27398" y="164070"/>
                    </a:moveTo>
                    <a:lnTo>
                      <a:pt x="27398" y="794159"/>
                    </a:lnTo>
                    <a:lnTo>
                      <a:pt x="13699" y="794159"/>
                    </a:lnTo>
                    <a:lnTo>
                      <a:pt x="27398" y="794159"/>
                    </a:lnTo>
                    <a:cubicBezTo>
                      <a:pt x="27398" y="877439"/>
                      <a:pt x="170371" y="945133"/>
                      <a:pt x="347109" y="945133"/>
                    </a:cubicBezTo>
                    <a:lnTo>
                      <a:pt x="13988746" y="945133"/>
                    </a:lnTo>
                    <a:cubicBezTo>
                      <a:pt x="14165484" y="945133"/>
                      <a:pt x="14308457" y="877439"/>
                      <a:pt x="14308457" y="794159"/>
                    </a:cubicBezTo>
                    <a:lnTo>
                      <a:pt x="14308457" y="164070"/>
                    </a:lnTo>
                    <a:cubicBezTo>
                      <a:pt x="14308457" y="80790"/>
                      <a:pt x="14165484" y="13096"/>
                      <a:pt x="13988746" y="13096"/>
                    </a:cubicBezTo>
                    <a:lnTo>
                      <a:pt x="347302" y="13096"/>
                    </a:lnTo>
                    <a:lnTo>
                      <a:pt x="347302" y="6548"/>
                    </a:lnTo>
                    <a:lnTo>
                      <a:pt x="347302" y="13096"/>
                    </a:lnTo>
                    <a:cubicBezTo>
                      <a:pt x="170371" y="13096"/>
                      <a:pt x="27398" y="80790"/>
                      <a:pt x="27398" y="164070"/>
                    </a:cubicBezTo>
                    <a:close/>
                  </a:path>
                </a:pathLst>
              </a:custGeom>
              <a:solidFill>
                <a:srgbClr val="3D4B5F"/>
              </a:solidFill>
            </p:spPr>
          </p:sp>
        </p:grpSp>
        <p:grpSp>
          <p:nvGrpSpPr>
            <p:cNvPr name="Group 20" id="20"/>
            <p:cNvGrpSpPr/>
            <p:nvPr/>
          </p:nvGrpSpPr>
          <p:grpSpPr>
            <a:xfrm rot="0">
              <a:off x="1161473" y="58086"/>
              <a:ext cx="17938385" cy="1090251"/>
              <a:chOff x="0" y="0"/>
              <a:chExt cx="14248367" cy="865981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14248368" cy="865981"/>
              </a:xfrm>
              <a:custGeom>
                <a:avLst/>
                <a:gdLst/>
                <a:ahLst/>
                <a:cxnLst/>
                <a:rect r="r" b="b" t="t" l="l"/>
                <a:pathLst>
                  <a:path h="865981" w="14248368">
                    <a:moveTo>
                      <a:pt x="0" y="0"/>
                    </a:moveTo>
                    <a:lnTo>
                      <a:pt x="14248368" y="0"/>
                    </a:lnTo>
                    <a:lnTo>
                      <a:pt x="14248368" y="865981"/>
                    </a:lnTo>
                    <a:lnTo>
                      <a:pt x="0" y="86598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38100"/>
                <a:ext cx="14248367" cy="827881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239"/>
                  </a:lnSpc>
                </a:pPr>
                <a:r>
                  <a:rPr lang="en-US" sz="2999" b="true">
                    <a:solidFill>
                      <a:srgbClr val="000000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rPr>
                  <a:t>II. DATA INGESTION LAYER</a:t>
                </a:r>
              </a:p>
            </p:txBody>
          </p:sp>
        </p:grpSp>
      </p:grpSp>
      <p:grpSp>
        <p:nvGrpSpPr>
          <p:cNvPr name="Group 23" id="23"/>
          <p:cNvGrpSpPr/>
          <p:nvPr/>
        </p:nvGrpSpPr>
        <p:grpSpPr>
          <a:xfrm rot="0">
            <a:off x="1303456" y="4721984"/>
            <a:ext cx="15951081" cy="1226733"/>
            <a:chOff x="0" y="0"/>
            <a:chExt cx="21268108" cy="1635644"/>
          </a:xfrm>
        </p:grpSpPr>
        <p:grpSp>
          <p:nvGrpSpPr>
            <p:cNvPr name="Group 24" id="24"/>
            <p:cNvGrpSpPr/>
            <p:nvPr/>
          </p:nvGrpSpPr>
          <p:grpSpPr>
            <a:xfrm rot="0">
              <a:off x="0" y="603353"/>
              <a:ext cx="21054335" cy="1032290"/>
              <a:chOff x="0" y="0"/>
              <a:chExt cx="16723350" cy="819943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12437" y="6548"/>
                <a:ext cx="16698430" cy="806794"/>
              </a:xfrm>
              <a:custGeom>
                <a:avLst/>
                <a:gdLst/>
                <a:ahLst/>
                <a:cxnLst/>
                <a:rect r="r" b="b" t="t" l="l"/>
                <a:pathLst>
                  <a:path h="806794" w="16698430">
                    <a:moveTo>
                      <a:pt x="0" y="0"/>
                    </a:moveTo>
                    <a:lnTo>
                      <a:pt x="16698430" y="0"/>
                    </a:lnTo>
                    <a:lnTo>
                      <a:pt x="16698430" y="806794"/>
                    </a:lnTo>
                    <a:lnTo>
                      <a:pt x="0" y="806794"/>
                    </a:lnTo>
                    <a:close/>
                  </a:path>
                </a:pathLst>
              </a:custGeom>
              <a:solidFill>
                <a:srgbClr val="F29C50">
                  <a:alpha val="80784"/>
                </a:srgbClr>
              </a:solidFill>
            </p:spPr>
          </p:sp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16723305" cy="819890"/>
              </a:xfrm>
              <a:custGeom>
                <a:avLst/>
                <a:gdLst/>
                <a:ahLst/>
                <a:cxnLst/>
                <a:rect r="r" b="b" t="t" l="l"/>
                <a:pathLst>
                  <a:path h="819890" w="16723305">
                    <a:moveTo>
                      <a:pt x="12437" y="0"/>
                    </a:moveTo>
                    <a:lnTo>
                      <a:pt x="16710867" y="0"/>
                    </a:lnTo>
                    <a:cubicBezTo>
                      <a:pt x="16717699" y="0"/>
                      <a:pt x="16723305" y="2951"/>
                      <a:pt x="16723305" y="6548"/>
                    </a:cubicBezTo>
                    <a:lnTo>
                      <a:pt x="16723305" y="813342"/>
                    </a:lnTo>
                    <a:cubicBezTo>
                      <a:pt x="16723305" y="816939"/>
                      <a:pt x="16717699" y="819890"/>
                      <a:pt x="16710867" y="819890"/>
                    </a:cubicBezTo>
                    <a:lnTo>
                      <a:pt x="12437" y="819890"/>
                    </a:lnTo>
                    <a:cubicBezTo>
                      <a:pt x="5605" y="819890"/>
                      <a:pt x="0" y="816939"/>
                      <a:pt x="0" y="813342"/>
                    </a:cubicBezTo>
                    <a:lnTo>
                      <a:pt x="0" y="6548"/>
                    </a:lnTo>
                    <a:cubicBezTo>
                      <a:pt x="0" y="2951"/>
                      <a:pt x="5605" y="0"/>
                      <a:pt x="12437" y="0"/>
                    </a:cubicBezTo>
                    <a:moveTo>
                      <a:pt x="12437" y="13096"/>
                    </a:moveTo>
                    <a:lnTo>
                      <a:pt x="12437" y="6548"/>
                    </a:lnTo>
                    <a:lnTo>
                      <a:pt x="24874" y="6548"/>
                    </a:lnTo>
                    <a:lnTo>
                      <a:pt x="24874" y="813342"/>
                    </a:lnTo>
                    <a:lnTo>
                      <a:pt x="12437" y="813342"/>
                    </a:lnTo>
                    <a:lnTo>
                      <a:pt x="12437" y="806794"/>
                    </a:lnTo>
                    <a:lnTo>
                      <a:pt x="16710867" y="806794"/>
                    </a:lnTo>
                    <a:lnTo>
                      <a:pt x="16710867" y="813342"/>
                    </a:lnTo>
                    <a:lnTo>
                      <a:pt x="16698429" y="813342"/>
                    </a:lnTo>
                    <a:lnTo>
                      <a:pt x="16698429" y="6548"/>
                    </a:lnTo>
                    <a:lnTo>
                      <a:pt x="16710867" y="6548"/>
                    </a:lnTo>
                    <a:lnTo>
                      <a:pt x="16710867" y="13096"/>
                    </a:lnTo>
                    <a:lnTo>
                      <a:pt x="12437" y="13096"/>
                    </a:lnTo>
                    <a:close/>
                  </a:path>
                </a:pathLst>
              </a:custGeom>
              <a:solidFill>
                <a:srgbClr val="44546A"/>
              </a:solidFill>
            </p:spPr>
          </p:sp>
        </p:grpSp>
        <p:grpSp>
          <p:nvGrpSpPr>
            <p:cNvPr name="Group 27" id="27"/>
            <p:cNvGrpSpPr/>
            <p:nvPr/>
          </p:nvGrpSpPr>
          <p:grpSpPr>
            <a:xfrm rot="0">
              <a:off x="1051148" y="0"/>
              <a:ext cx="18048710" cy="1206423"/>
              <a:chOff x="0" y="0"/>
              <a:chExt cx="14335998" cy="958256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13699" y="6548"/>
                <a:ext cx="14308458" cy="945133"/>
              </a:xfrm>
              <a:custGeom>
                <a:avLst/>
                <a:gdLst/>
                <a:ahLst/>
                <a:cxnLst/>
                <a:rect r="r" b="b" t="t" l="l"/>
                <a:pathLst>
                  <a:path h="945133" w="14308458">
                    <a:moveTo>
                      <a:pt x="0" y="157522"/>
                    </a:moveTo>
                    <a:cubicBezTo>
                      <a:pt x="0" y="70553"/>
                      <a:pt x="149340" y="0"/>
                      <a:pt x="333603" y="0"/>
                    </a:cubicBezTo>
                    <a:lnTo>
                      <a:pt x="13975047" y="0"/>
                    </a:lnTo>
                    <a:cubicBezTo>
                      <a:pt x="14159310" y="0"/>
                      <a:pt x="14308458" y="70553"/>
                      <a:pt x="14308458" y="157522"/>
                    </a:cubicBezTo>
                    <a:lnTo>
                      <a:pt x="14308458" y="787611"/>
                    </a:lnTo>
                    <a:cubicBezTo>
                      <a:pt x="14308458" y="874581"/>
                      <a:pt x="14159117" y="945134"/>
                      <a:pt x="13975047" y="945134"/>
                    </a:cubicBezTo>
                    <a:lnTo>
                      <a:pt x="333603" y="945134"/>
                    </a:lnTo>
                    <a:cubicBezTo>
                      <a:pt x="149340" y="945134"/>
                      <a:pt x="0" y="874581"/>
                      <a:pt x="0" y="787611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14336032" cy="958230"/>
              </a:xfrm>
              <a:custGeom>
                <a:avLst/>
                <a:gdLst/>
                <a:ahLst/>
                <a:cxnLst/>
                <a:rect r="r" b="b" t="t" l="l"/>
                <a:pathLst>
                  <a:path h="958230" w="14336032">
                    <a:moveTo>
                      <a:pt x="0" y="164070"/>
                    </a:moveTo>
                    <a:cubicBezTo>
                      <a:pt x="0" y="73412"/>
                      <a:pt x="155514" y="0"/>
                      <a:pt x="347302" y="0"/>
                    </a:cubicBezTo>
                    <a:lnTo>
                      <a:pt x="13988746" y="0"/>
                    </a:lnTo>
                    <a:lnTo>
                      <a:pt x="13988746" y="6548"/>
                    </a:lnTo>
                    <a:lnTo>
                      <a:pt x="13988746" y="0"/>
                    </a:lnTo>
                    <a:cubicBezTo>
                      <a:pt x="14180341" y="0"/>
                      <a:pt x="14336032" y="73412"/>
                      <a:pt x="14336032" y="164070"/>
                    </a:cubicBezTo>
                    <a:lnTo>
                      <a:pt x="14322349" y="164070"/>
                    </a:lnTo>
                    <a:lnTo>
                      <a:pt x="14336032" y="164070"/>
                    </a:lnTo>
                    <a:lnTo>
                      <a:pt x="14336032" y="794159"/>
                    </a:lnTo>
                    <a:lnTo>
                      <a:pt x="14322349" y="794159"/>
                    </a:lnTo>
                    <a:lnTo>
                      <a:pt x="14336032" y="794159"/>
                    </a:lnTo>
                    <a:cubicBezTo>
                      <a:pt x="14336032" y="884818"/>
                      <a:pt x="14180534" y="958230"/>
                      <a:pt x="13988746" y="958230"/>
                    </a:cubicBezTo>
                    <a:lnTo>
                      <a:pt x="13988746" y="951682"/>
                    </a:lnTo>
                    <a:lnTo>
                      <a:pt x="13988746" y="958230"/>
                    </a:lnTo>
                    <a:lnTo>
                      <a:pt x="347302" y="958230"/>
                    </a:lnTo>
                    <a:lnTo>
                      <a:pt x="347302" y="951682"/>
                    </a:lnTo>
                    <a:lnTo>
                      <a:pt x="347302" y="958230"/>
                    </a:lnTo>
                    <a:cubicBezTo>
                      <a:pt x="155707" y="958230"/>
                      <a:pt x="0" y="884818"/>
                      <a:pt x="0" y="794159"/>
                    </a:cubicBezTo>
                    <a:lnTo>
                      <a:pt x="0" y="164070"/>
                    </a:lnTo>
                    <a:lnTo>
                      <a:pt x="13699" y="164070"/>
                    </a:lnTo>
                    <a:lnTo>
                      <a:pt x="0" y="164070"/>
                    </a:lnTo>
                    <a:moveTo>
                      <a:pt x="27398" y="164070"/>
                    </a:moveTo>
                    <a:lnTo>
                      <a:pt x="27398" y="794159"/>
                    </a:lnTo>
                    <a:lnTo>
                      <a:pt x="13699" y="794159"/>
                    </a:lnTo>
                    <a:lnTo>
                      <a:pt x="27398" y="794159"/>
                    </a:lnTo>
                    <a:cubicBezTo>
                      <a:pt x="27398" y="877439"/>
                      <a:pt x="170371" y="945133"/>
                      <a:pt x="347109" y="945133"/>
                    </a:cubicBezTo>
                    <a:lnTo>
                      <a:pt x="13988746" y="945133"/>
                    </a:lnTo>
                    <a:cubicBezTo>
                      <a:pt x="14165484" y="945133"/>
                      <a:pt x="14308457" y="877439"/>
                      <a:pt x="14308457" y="794159"/>
                    </a:cubicBezTo>
                    <a:lnTo>
                      <a:pt x="14308457" y="164070"/>
                    </a:lnTo>
                    <a:cubicBezTo>
                      <a:pt x="14308457" y="80790"/>
                      <a:pt x="14165484" y="13096"/>
                      <a:pt x="13988746" y="13096"/>
                    </a:cubicBezTo>
                    <a:lnTo>
                      <a:pt x="347302" y="13096"/>
                    </a:lnTo>
                    <a:lnTo>
                      <a:pt x="347302" y="6548"/>
                    </a:lnTo>
                    <a:lnTo>
                      <a:pt x="347302" y="13096"/>
                    </a:lnTo>
                    <a:cubicBezTo>
                      <a:pt x="170371" y="13096"/>
                      <a:pt x="27398" y="80790"/>
                      <a:pt x="27398" y="164070"/>
                    </a:cubicBezTo>
                    <a:close/>
                  </a:path>
                </a:pathLst>
              </a:custGeom>
              <a:solidFill>
                <a:srgbClr val="3D4B5F"/>
              </a:solidFill>
            </p:spPr>
          </p:sp>
        </p:grpSp>
        <p:grpSp>
          <p:nvGrpSpPr>
            <p:cNvPr name="Group 30" id="30"/>
            <p:cNvGrpSpPr/>
            <p:nvPr/>
          </p:nvGrpSpPr>
          <p:grpSpPr>
            <a:xfrm rot="0">
              <a:off x="1161473" y="58086"/>
              <a:ext cx="20106635" cy="1090251"/>
              <a:chOff x="0" y="0"/>
              <a:chExt cx="15970597" cy="865981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15970597" cy="865981"/>
              </a:xfrm>
              <a:custGeom>
                <a:avLst/>
                <a:gdLst/>
                <a:ahLst/>
                <a:cxnLst/>
                <a:rect r="r" b="b" t="t" l="l"/>
                <a:pathLst>
                  <a:path h="865981" w="15970597">
                    <a:moveTo>
                      <a:pt x="0" y="0"/>
                    </a:moveTo>
                    <a:lnTo>
                      <a:pt x="15970597" y="0"/>
                    </a:lnTo>
                    <a:lnTo>
                      <a:pt x="15970597" y="865981"/>
                    </a:lnTo>
                    <a:lnTo>
                      <a:pt x="0" y="86598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0" y="38100"/>
                <a:ext cx="15970597" cy="827881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239"/>
                  </a:lnSpc>
                </a:pPr>
                <a:r>
                  <a:rPr lang="en-US" sz="2999" b="true">
                    <a:solidFill>
                      <a:srgbClr val="000000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rPr>
                  <a:t>III. STREAMING PROCESSING LAYER</a:t>
                </a:r>
              </a:p>
            </p:txBody>
          </p:sp>
        </p:grpSp>
      </p:grpSp>
      <p:grpSp>
        <p:nvGrpSpPr>
          <p:cNvPr name="Group 33" id="33"/>
          <p:cNvGrpSpPr/>
          <p:nvPr/>
        </p:nvGrpSpPr>
        <p:grpSpPr>
          <a:xfrm rot="0">
            <a:off x="129092" y="0"/>
            <a:ext cx="17292166" cy="1002665"/>
            <a:chOff x="0" y="0"/>
            <a:chExt cx="23056221" cy="1336887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3056221" cy="1336887"/>
            </a:xfrm>
            <a:custGeom>
              <a:avLst/>
              <a:gdLst/>
              <a:ahLst/>
              <a:cxnLst/>
              <a:rect r="r" b="b" t="t" l="l"/>
              <a:pathLst>
                <a:path h="1336887" w="23056221">
                  <a:moveTo>
                    <a:pt x="0" y="0"/>
                  </a:moveTo>
                  <a:lnTo>
                    <a:pt x="23056221" y="0"/>
                  </a:lnTo>
                  <a:lnTo>
                    <a:pt x="23056221" y="1336887"/>
                  </a:lnTo>
                  <a:lnTo>
                    <a:pt x="0" y="133688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0"/>
              <a:ext cx="23056221" cy="1336887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6000"/>
                </a:lnSpc>
              </a:pPr>
              <a:r>
                <a:rPr lang="en-US" sz="500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TABLE OF CONTENTS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303456" y="6286761"/>
            <a:ext cx="15951081" cy="1226733"/>
            <a:chOff x="0" y="0"/>
            <a:chExt cx="21268108" cy="1635644"/>
          </a:xfrm>
        </p:grpSpPr>
        <p:grpSp>
          <p:nvGrpSpPr>
            <p:cNvPr name="Group 37" id="37"/>
            <p:cNvGrpSpPr/>
            <p:nvPr/>
          </p:nvGrpSpPr>
          <p:grpSpPr>
            <a:xfrm rot="0">
              <a:off x="0" y="603353"/>
              <a:ext cx="21054335" cy="1032290"/>
              <a:chOff x="0" y="0"/>
              <a:chExt cx="16723350" cy="819943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12437" y="6548"/>
                <a:ext cx="16698430" cy="806794"/>
              </a:xfrm>
              <a:custGeom>
                <a:avLst/>
                <a:gdLst/>
                <a:ahLst/>
                <a:cxnLst/>
                <a:rect r="r" b="b" t="t" l="l"/>
                <a:pathLst>
                  <a:path h="806794" w="16698430">
                    <a:moveTo>
                      <a:pt x="0" y="0"/>
                    </a:moveTo>
                    <a:lnTo>
                      <a:pt x="16698430" y="0"/>
                    </a:lnTo>
                    <a:lnTo>
                      <a:pt x="16698430" y="806794"/>
                    </a:lnTo>
                    <a:lnTo>
                      <a:pt x="0" y="806794"/>
                    </a:lnTo>
                    <a:close/>
                  </a:path>
                </a:pathLst>
              </a:custGeom>
              <a:solidFill>
                <a:srgbClr val="F29C50">
                  <a:alpha val="80784"/>
                </a:srgbClr>
              </a:solidFill>
            </p:spPr>
          </p:sp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16723305" cy="819890"/>
              </a:xfrm>
              <a:custGeom>
                <a:avLst/>
                <a:gdLst/>
                <a:ahLst/>
                <a:cxnLst/>
                <a:rect r="r" b="b" t="t" l="l"/>
                <a:pathLst>
                  <a:path h="819890" w="16723305">
                    <a:moveTo>
                      <a:pt x="12437" y="0"/>
                    </a:moveTo>
                    <a:lnTo>
                      <a:pt x="16710867" y="0"/>
                    </a:lnTo>
                    <a:cubicBezTo>
                      <a:pt x="16717699" y="0"/>
                      <a:pt x="16723305" y="2951"/>
                      <a:pt x="16723305" y="6548"/>
                    </a:cubicBezTo>
                    <a:lnTo>
                      <a:pt x="16723305" y="813342"/>
                    </a:lnTo>
                    <a:cubicBezTo>
                      <a:pt x="16723305" y="816939"/>
                      <a:pt x="16717699" y="819890"/>
                      <a:pt x="16710867" y="819890"/>
                    </a:cubicBezTo>
                    <a:lnTo>
                      <a:pt x="12437" y="819890"/>
                    </a:lnTo>
                    <a:cubicBezTo>
                      <a:pt x="5605" y="819890"/>
                      <a:pt x="0" y="816939"/>
                      <a:pt x="0" y="813342"/>
                    </a:cubicBezTo>
                    <a:lnTo>
                      <a:pt x="0" y="6548"/>
                    </a:lnTo>
                    <a:cubicBezTo>
                      <a:pt x="0" y="2951"/>
                      <a:pt x="5605" y="0"/>
                      <a:pt x="12437" y="0"/>
                    </a:cubicBezTo>
                    <a:moveTo>
                      <a:pt x="12437" y="13096"/>
                    </a:moveTo>
                    <a:lnTo>
                      <a:pt x="12437" y="6548"/>
                    </a:lnTo>
                    <a:lnTo>
                      <a:pt x="24874" y="6548"/>
                    </a:lnTo>
                    <a:lnTo>
                      <a:pt x="24874" y="813342"/>
                    </a:lnTo>
                    <a:lnTo>
                      <a:pt x="12437" y="813342"/>
                    </a:lnTo>
                    <a:lnTo>
                      <a:pt x="12437" y="806794"/>
                    </a:lnTo>
                    <a:lnTo>
                      <a:pt x="16710867" y="806794"/>
                    </a:lnTo>
                    <a:lnTo>
                      <a:pt x="16710867" y="813342"/>
                    </a:lnTo>
                    <a:lnTo>
                      <a:pt x="16698429" y="813342"/>
                    </a:lnTo>
                    <a:lnTo>
                      <a:pt x="16698429" y="6548"/>
                    </a:lnTo>
                    <a:lnTo>
                      <a:pt x="16710867" y="6548"/>
                    </a:lnTo>
                    <a:lnTo>
                      <a:pt x="16710867" y="13096"/>
                    </a:lnTo>
                    <a:lnTo>
                      <a:pt x="12437" y="13096"/>
                    </a:lnTo>
                    <a:close/>
                  </a:path>
                </a:pathLst>
              </a:custGeom>
              <a:solidFill>
                <a:srgbClr val="44546A"/>
              </a:solidFill>
            </p:spPr>
          </p:sp>
        </p:grpSp>
        <p:grpSp>
          <p:nvGrpSpPr>
            <p:cNvPr name="Group 40" id="40"/>
            <p:cNvGrpSpPr/>
            <p:nvPr/>
          </p:nvGrpSpPr>
          <p:grpSpPr>
            <a:xfrm rot="0">
              <a:off x="1051148" y="0"/>
              <a:ext cx="18048710" cy="1206423"/>
              <a:chOff x="0" y="0"/>
              <a:chExt cx="14335998" cy="958256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13699" y="6548"/>
                <a:ext cx="14308458" cy="945133"/>
              </a:xfrm>
              <a:custGeom>
                <a:avLst/>
                <a:gdLst/>
                <a:ahLst/>
                <a:cxnLst/>
                <a:rect r="r" b="b" t="t" l="l"/>
                <a:pathLst>
                  <a:path h="945133" w="14308458">
                    <a:moveTo>
                      <a:pt x="0" y="157522"/>
                    </a:moveTo>
                    <a:cubicBezTo>
                      <a:pt x="0" y="70553"/>
                      <a:pt x="149340" y="0"/>
                      <a:pt x="333603" y="0"/>
                    </a:cubicBezTo>
                    <a:lnTo>
                      <a:pt x="13975047" y="0"/>
                    </a:lnTo>
                    <a:cubicBezTo>
                      <a:pt x="14159310" y="0"/>
                      <a:pt x="14308458" y="70553"/>
                      <a:pt x="14308458" y="157522"/>
                    </a:cubicBezTo>
                    <a:lnTo>
                      <a:pt x="14308458" y="787611"/>
                    </a:lnTo>
                    <a:cubicBezTo>
                      <a:pt x="14308458" y="874581"/>
                      <a:pt x="14159117" y="945134"/>
                      <a:pt x="13975047" y="945134"/>
                    </a:cubicBezTo>
                    <a:lnTo>
                      <a:pt x="333603" y="945134"/>
                    </a:lnTo>
                    <a:cubicBezTo>
                      <a:pt x="149340" y="945134"/>
                      <a:pt x="0" y="874581"/>
                      <a:pt x="0" y="787611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14336032" cy="958230"/>
              </a:xfrm>
              <a:custGeom>
                <a:avLst/>
                <a:gdLst/>
                <a:ahLst/>
                <a:cxnLst/>
                <a:rect r="r" b="b" t="t" l="l"/>
                <a:pathLst>
                  <a:path h="958230" w="14336032">
                    <a:moveTo>
                      <a:pt x="0" y="164070"/>
                    </a:moveTo>
                    <a:cubicBezTo>
                      <a:pt x="0" y="73412"/>
                      <a:pt x="155514" y="0"/>
                      <a:pt x="347302" y="0"/>
                    </a:cubicBezTo>
                    <a:lnTo>
                      <a:pt x="13988746" y="0"/>
                    </a:lnTo>
                    <a:lnTo>
                      <a:pt x="13988746" y="6548"/>
                    </a:lnTo>
                    <a:lnTo>
                      <a:pt x="13988746" y="0"/>
                    </a:lnTo>
                    <a:cubicBezTo>
                      <a:pt x="14180341" y="0"/>
                      <a:pt x="14336032" y="73412"/>
                      <a:pt x="14336032" y="164070"/>
                    </a:cubicBezTo>
                    <a:lnTo>
                      <a:pt x="14322349" y="164070"/>
                    </a:lnTo>
                    <a:lnTo>
                      <a:pt x="14336032" y="164070"/>
                    </a:lnTo>
                    <a:lnTo>
                      <a:pt x="14336032" y="794159"/>
                    </a:lnTo>
                    <a:lnTo>
                      <a:pt x="14322349" y="794159"/>
                    </a:lnTo>
                    <a:lnTo>
                      <a:pt x="14336032" y="794159"/>
                    </a:lnTo>
                    <a:cubicBezTo>
                      <a:pt x="14336032" y="884818"/>
                      <a:pt x="14180534" y="958230"/>
                      <a:pt x="13988746" y="958230"/>
                    </a:cubicBezTo>
                    <a:lnTo>
                      <a:pt x="13988746" y="951682"/>
                    </a:lnTo>
                    <a:lnTo>
                      <a:pt x="13988746" y="958230"/>
                    </a:lnTo>
                    <a:lnTo>
                      <a:pt x="347302" y="958230"/>
                    </a:lnTo>
                    <a:lnTo>
                      <a:pt x="347302" y="951682"/>
                    </a:lnTo>
                    <a:lnTo>
                      <a:pt x="347302" y="958230"/>
                    </a:lnTo>
                    <a:cubicBezTo>
                      <a:pt x="155707" y="958230"/>
                      <a:pt x="0" y="884818"/>
                      <a:pt x="0" y="794159"/>
                    </a:cubicBezTo>
                    <a:lnTo>
                      <a:pt x="0" y="164070"/>
                    </a:lnTo>
                    <a:lnTo>
                      <a:pt x="13699" y="164070"/>
                    </a:lnTo>
                    <a:lnTo>
                      <a:pt x="0" y="164070"/>
                    </a:lnTo>
                    <a:moveTo>
                      <a:pt x="27398" y="164070"/>
                    </a:moveTo>
                    <a:lnTo>
                      <a:pt x="27398" y="794159"/>
                    </a:lnTo>
                    <a:lnTo>
                      <a:pt x="13699" y="794159"/>
                    </a:lnTo>
                    <a:lnTo>
                      <a:pt x="27398" y="794159"/>
                    </a:lnTo>
                    <a:cubicBezTo>
                      <a:pt x="27398" y="877439"/>
                      <a:pt x="170371" y="945133"/>
                      <a:pt x="347109" y="945133"/>
                    </a:cubicBezTo>
                    <a:lnTo>
                      <a:pt x="13988746" y="945133"/>
                    </a:lnTo>
                    <a:cubicBezTo>
                      <a:pt x="14165484" y="945133"/>
                      <a:pt x="14308457" y="877439"/>
                      <a:pt x="14308457" y="794159"/>
                    </a:cubicBezTo>
                    <a:lnTo>
                      <a:pt x="14308457" y="164070"/>
                    </a:lnTo>
                    <a:cubicBezTo>
                      <a:pt x="14308457" y="80790"/>
                      <a:pt x="14165484" y="13096"/>
                      <a:pt x="13988746" y="13096"/>
                    </a:cubicBezTo>
                    <a:lnTo>
                      <a:pt x="347302" y="13096"/>
                    </a:lnTo>
                    <a:lnTo>
                      <a:pt x="347302" y="6548"/>
                    </a:lnTo>
                    <a:lnTo>
                      <a:pt x="347302" y="13096"/>
                    </a:lnTo>
                    <a:cubicBezTo>
                      <a:pt x="170371" y="13096"/>
                      <a:pt x="27398" y="80790"/>
                      <a:pt x="27398" y="164070"/>
                    </a:cubicBezTo>
                    <a:close/>
                  </a:path>
                </a:pathLst>
              </a:custGeom>
              <a:solidFill>
                <a:srgbClr val="3D4B5F"/>
              </a:solidFill>
            </p:spPr>
          </p:sp>
        </p:grpSp>
        <p:grpSp>
          <p:nvGrpSpPr>
            <p:cNvPr name="Group 43" id="43"/>
            <p:cNvGrpSpPr/>
            <p:nvPr/>
          </p:nvGrpSpPr>
          <p:grpSpPr>
            <a:xfrm rot="0">
              <a:off x="1161473" y="58086"/>
              <a:ext cx="20106635" cy="1090251"/>
              <a:chOff x="0" y="0"/>
              <a:chExt cx="15970597" cy="865981"/>
            </a:xfrm>
          </p:grpSpPr>
          <p:sp>
            <p:nvSpPr>
              <p:cNvPr name="Freeform 44" id="44"/>
              <p:cNvSpPr/>
              <p:nvPr/>
            </p:nvSpPr>
            <p:spPr>
              <a:xfrm flipH="false" flipV="false" rot="0">
                <a:off x="0" y="0"/>
                <a:ext cx="15970597" cy="865981"/>
              </a:xfrm>
              <a:custGeom>
                <a:avLst/>
                <a:gdLst/>
                <a:ahLst/>
                <a:cxnLst/>
                <a:rect r="r" b="b" t="t" l="l"/>
                <a:pathLst>
                  <a:path h="865981" w="15970597">
                    <a:moveTo>
                      <a:pt x="0" y="0"/>
                    </a:moveTo>
                    <a:lnTo>
                      <a:pt x="15970597" y="0"/>
                    </a:lnTo>
                    <a:lnTo>
                      <a:pt x="15970597" y="865981"/>
                    </a:lnTo>
                    <a:lnTo>
                      <a:pt x="0" y="86598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45" id="45"/>
              <p:cNvSpPr txBox="true"/>
              <p:nvPr/>
            </p:nvSpPr>
            <p:spPr>
              <a:xfrm>
                <a:off x="0" y="38100"/>
                <a:ext cx="15970597" cy="827881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239"/>
                  </a:lnSpc>
                </a:pPr>
                <a:r>
                  <a:rPr lang="en-US" sz="2999" b="true">
                    <a:solidFill>
                      <a:srgbClr val="000000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rPr>
                  <a:t>IV. STORAGE LAYER</a:t>
                </a:r>
              </a:p>
            </p:txBody>
          </p:sp>
        </p:grpSp>
      </p:grpSp>
      <p:grpSp>
        <p:nvGrpSpPr>
          <p:cNvPr name="Group 46" id="46"/>
          <p:cNvGrpSpPr/>
          <p:nvPr/>
        </p:nvGrpSpPr>
        <p:grpSpPr>
          <a:xfrm rot="0">
            <a:off x="1308219" y="7851537"/>
            <a:ext cx="15941556" cy="1226733"/>
            <a:chOff x="0" y="0"/>
            <a:chExt cx="21255408" cy="1635644"/>
          </a:xfrm>
        </p:grpSpPr>
        <p:grpSp>
          <p:nvGrpSpPr>
            <p:cNvPr name="Group 47" id="47"/>
            <p:cNvGrpSpPr/>
            <p:nvPr/>
          </p:nvGrpSpPr>
          <p:grpSpPr>
            <a:xfrm rot="0">
              <a:off x="0" y="603353"/>
              <a:ext cx="21054335" cy="1032290"/>
              <a:chOff x="0" y="0"/>
              <a:chExt cx="16723350" cy="819943"/>
            </a:xfrm>
          </p:grpSpPr>
          <p:sp>
            <p:nvSpPr>
              <p:cNvPr name="Freeform 48" id="48"/>
              <p:cNvSpPr/>
              <p:nvPr/>
            </p:nvSpPr>
            <p:spPr>
              <a:xfrm flipH="false" flipV="false" rot="0">
                <a:off x="12437" y="6548"/>
                <a:ext cx="16698430" cy="806794"/>
              </a:xfrm>
              <a:custGeom>
                <a:avLst/>
                <a:gdLst/>
                <a:ahLst/>
                <a:cxnLst/>
                <a:rect r="r" b="b" t="t" l="l"/>
                <a:pathLst>
                  <a:path h="806794" w="16698430">
                    <a:moveTo>
                      <a:pt x="0" y="0"/>
                    </a:moveTo>
                    <a:lnTo>
                      <a:pt x="16698430" y="0"/>
                    </a:lnTo>
                    <a:lnTo>
                      <a:pt x="16698430" y="806794"/>
                    </a:lnTo>
                    <a:lnTo>
                      <a:pt x="0" y="806794"/>
                    </a:lnTo>
                    <a:close/>
                  </a:path>
                </a:pathLst>
              </a:custGeom>
              <a:solidFill>
                <a:srgbClr val="F29C50">
                  <a:alpha val="80784"/>
                </a:srgbClr>
              </a:solidFill>
            </p:spPr>
          </p:sp>
          <p:sp>
            <p:nvSpPr>
              <p:cNvPr name="Freeform 49" id="49"/>
              <p:cNvSpPr/>
              <p:nvPr/>
            </p:nvSpPr>
            <p:spPr>
              <a:xfrm flipH="false" flipV="false" rot="0">
                <a:off x="0" y="0"/>
                <a:ext cx="16723305" cy="819890"/>
              </a:xfrm>
              <a:custGeom>
                <a:avLst/>
                <a:gdLst/>
                <a:ahLst/>
                <a:cxnLst/>
                <a:rect r="r" b="b" t="t" l="l"/>
                <a:pathLst>
                  <a:path h="819890" w="16723305">
                    <a:moveTo>
                      <a:pt x="12437" y="0"/>
                    </a:moveTo>
                    <a:lnTo>
                      <a:pt x="16710867" y="0"/>
                    </a:lnTo>
                    <a:cubicBezTo>
                      <a:pt x="16717699" y="0"/>
                      <a:pt x="16723305" y="2951"/>
                      <a:pt x="16723305" y="6548"/>
                    </a:cubicBezTo>
                    <a:lnTo>
                      <a:pt x="16723305" y="813342"/>
                    </a:lnTo>
                    <a:cubicBezTo>
                      <a:pt x="16723305" y="816939"/>
                      <a:pt x="16717699" y="819890"/>
                      <a:pt x="16710867" y="819890"/>
                    </a:cubicBezTo>
                    <a:lnTo>
                      <a:pt x="12437" y="819890"/>
                    </a:lnTo>
                    <a:cubicBezTo>
                      <a:pt x="5605" y="819890"/>
                      <a:pt x="0" y="816939"/>
                      <a:pt x="0" y="813342"/>
                    </a:cubicBezTo>
                    <a:lnTo>
                      <a:pt x="0" y="6548"/>
                    </a:lnTo>
                    <a:cubicBezTo>
                      <a:pt x="0" y="2951"/>
                      <a:pt x="5605" y="0"/>
                      <a:pt x="12437" y="0"/>
                    </a:cubicBezTo>
                    <a:moveTo>
                      <a:pt x="12437" y="13096"/>
                    </a:moveTo>
                    <a:lnTo>
                      <a:pt x="12437" y="6548"/>
                    </a:lnTo>
                    <a:lnTo>
                      <a:pt x="24874" y="6548"/>
                    </a:lnTo>
                    <a:lnTo>
                      <a:pt x="24874" y="813342"/>
                    </a:lnTo>
                    <a:lnTo>
                      <a:pt x="12437" y="813342"/>
                    </a:lnTo>
                    <a:lnTo>
                      <a:pt x="12437" y="806794"/>
                    </a:lnTo>
                    <a:lnTo>
                      <a:pt x="16710867" y="806794"/>
                    </a:lnTo>
                    <a:lnTo>
                      <a:pt x="16710867" y="813342"/>
                    </a:lnTo>
                    <a:lnTo>
                      <a:pt x="16698429" y="813342"/>
                    </a:lnTo>
                    <a:lnTo>
                      <a:pt x="16698429" y="6548"/>
                    </a:lnTo>
                    <a:lnTo>
                      <a:pt x="16710867" y="6548"/>
                    </a:lnTo>
                    <a:lnTo>
                      <a:pt x="16710867" y="13096"/>
                    </a:lnTo>
                    <a:lnTo>
                      <a:pt x="12437" y="13096"/>
                    </a:lnTo>
                    <a:close/>
                  </a:path>
                </a:pathLst>
              </a:custGeom>
              <a:solidFill>
                <a:srgbClr val="44546A"/>
              </a:solidFill>
            </p:spPr>
          </p:sp>
        </p:grpSp>
        <p:grpSp>
          <p:nvGrpSpPr>
            <p:cNvPr name="Group 50" id="50"/>
            <p:cNvGrpSpPr/>
            <p:nvPr/>
          </p:nvGrpSpPr>
          <p:grpSpPr>
            <a:xfrm rot="0">
              <a:off x="1051148" y="0"/>
              <a:ext cx="18048710" cy="1206423"/>
              <a:chOff x="0" y="0"/>
              <a:chExt cx="14335998" cy="958256"/>
            </a:xfrm>
          </p:grpSpPr>
          <p:sp>
            <p:nvSpPr>
              <p:cNvPr name="Freeform 51" id="51"/>
              <p:cNvSpPr/>
              <p:nvPr/>
            </p:nvSpPr>
            <p:spPr>
              <a:xfrm flipH="false" flipV="false" rot="0">
                <a:off x="13699" y="6548"/>
                <a:ext cx="14308458" cy="945133"/>
              </a:xfrm>
              <a:custGeom>
                <a:avLst/>
                <a:gdLst/>
                <a:ahLst/>
                <a:cxnLst/>
                <a:rect r="r" b="b" t="t" l="l"/>
                <a:pathLst>
                  <a:path h="945133" w="14308458">
                    <a:moveTo>
                      <a:pt x="0" y="157522"/>
                    </a:moveTo>
                    <a:cubicBezTo>
                      <a:pt x="0" y="70553"/>
                      <a:pt x="149340" y="0"/>
                      <a:pt x="333603" y="0"/>
                    </a:cubicBezTo>
                    <a:lnTo>
                      <a:pt x="13975047" y="0"/>
                    </a:lnTo>
                    <a:cubicBezTo>
                      <a:pt x="14159310" y="0"/>
                      <a:pt x="14308458" y="70553"/>
                      <a:pt x="14308458" y="157522"/>
                    </a:cubicBezTo>
                    <a:lnTo>
                      <a:pt x="14308458" y="787611"/>
                    </a:lnTo>
                    <a:cubicBezTo>
                      <a:pt x="14308458" y="874581"/>
                      <a:pt x="14159117" y="945134"/>
                      <a:pt x="13975047" y="945134"/>
                    </a:cubicBezTo>
                    <a:lnTo>
                      <a:pt x="333603" y="945134"/>
                    </a:lnTo>
                    <a:cubicBezTo>
                      <a:pt x="149340" y="945134"/>
                      <a:pt x="0" y="874581"/>
                      <a:pt x="0" y="787611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Freeform 52" id="52"/>
              <p:cNvSpPr/>
              <p:nvPr/>
            </p:nvSpPr>
            <p:spPr>
              <a:xfrm flipH="false" flipV="false" rot="0">
                <a:off x="0" y="0"/>
                <a:ext cx="14336032" cy="958230"/>
              </a:xfrm>
              <a:custGeom>
                <a:avLst/>
                <a:gdLst/>
                <a:ahLst/>
                <a:cxnLst/>
                <a:rect r="r" b="b" t="t" l="l"/>
                <a:pathLst>
                  <a:path h="958230" w="14336032">
                    <a:moveTo>
                      <a:pt x="0" y="164070"/>
                    </a:moveTo>
                    <a:cubicBezTo>
                      <a:pt x="0" y="73412"/>
                      <a:pt x="155514" y="0"/>
                      <a:pt x="347302" y="0"/>
                    </a:cubicBezTo>
                    <a:lnTo>
                      <a:pt x="13988746" y="0"/>
                    </a:lnTo>
                    <a:lnTo>
                      <a:pt x="13988746" y="6548"/>
                    </a:lnTo>
                    <a:lnTo>
                      <a:pt x="13988746" y="0"/>
                    </a:lnTo>
                    <a:cubicBezTo>
                      <a:pt x="14180341" y="0"/>
                      <a:pt x="14336032" y="73412"/>
                      <a:pt x="14336032" y="164070"/>
                    </a:cubicBezTo>
                    <a:lnTo>
                      <a:pt x="14322349" y="164070"/>
                    </a:lnTo>
                    <a:lnTo>
                      <a:pt x="14336032" y="164070"/>
                    </a:lnTo>
                    <a:lnTo>
                      <a:pt x="14336032" y="794159"/>
                    </a:lnTo>
                    <a:lnTo>
                      <a:pt x="14322349" y="794159"/>
                    </a:lnTo>
                    <a:lnTo>
                      <a:pt x="14336032" y="794159"/>
                    </a:lnTo>
                    <a:cubicBezTo>
                      <a:pt x="14336032" y="884818"/>
                      <a:pt x="14180534" y="958230"/>
                      <a:pt x="13988746" y="958230"/>
                    </a:cubicBezTo>
                    <a:lnTo>
                      <a:pt x="13988746" y="951682"/>
                    </a:lnTo>
                    <a:lnTo>
                      <a:pt x="13988746" y="958230"/>
                    </a:lnTo>
                    <a:lnTo>
                      <a:pt x="347302" y="958230"/>
                    </a:lnTo>
                    <a:lnTo>
                      <a:pt x="347302" y="951682"/>
                    </a:lnTo>
                    <a:lnTo>
                      <a:pt x="347302" y="958230"/>
                    </a:lnTo>
                    <a:cubicBezTo>
                      <a:pt x="155707" y="958230"/>
                      <a:pt x="0" y="884818"/>
                      <a:pt x="0" y="794159"/>
                    </a:cubicBezTo>
                    <a:lnTo>
                      <a:pt x="0" y="164070"/>
                    </a:lnTo>
                    <a:lnTo>
                      <a:pt x="13699" y="164070"/>
                    </a:lnTo>
                    <a:lnTo>
                      <a:pt x="0" y="164070"/>
                    </a:lnTo>
                    <a:moveTo>
                      <a:pt x="27398" y="164070"/>
                    </a:moveTo>
                    <a:lnTo>
                      <a:pt x="27398" y="794159"/>
                    </a:lnTo>
                    <a:lnTo>
                      <a:pt x="13699" y="794159"/>
                    </a:lnTo>
                    <a:lnTo>
                      <a:pt x="27398" y="794159"/>
                    </a:lnTo>
                    <a:cubicBezTo>
                      <a:pt x="27398" y="877439"/>
                      <a:pt x="170371" y="945133"/>
                      <a:pt x="347109" y="945133"/>
                    </a:cubicBezTo>
                    <a:lnTo>
                      <a:pt x="13988746" y="945133"/>
                    </a:lnTo>
                    <a:cubicBezTo>
                      <a:pt x="14165484" y="945133"/>
                      <a:pt x="14308457" y="877439"/>
                      <a:pt x="14308457" y="794159"/>
                    </a:cubicBezTo>
                    <a:lnTo>
                      <a:pt x="14308457" y="164070"/>
                    </a:lnTo>
                    <a:cubicBezTo>
                      <a:pt x="14308457" y="80790"/>
                      <a:pt x="14165484" y="13096"/>
                      <a:pt x="13988746" y="13096"/>
                    </a:cubicBezTo>
                    <a:lnTo>
                      <a:pt x="347302" y="13096"/>
                    </a:lnTo>
                    <a:lnTo>
                      <a:pt x="347302" y="6548"/>
                    </a:lnTo>
                    <a:lnTo>
                      <a:pt x="347302" y="13096"/>
                    </a:lnTo>
                    <a:cubicBezTo>
                      <a:pt x="170371" y="13096"/>
                      <a:pt x="27398" y="80790"/>
                      <a:pt x="27398" y="164070"/>
                    </a:cubicBezTo>
                    <a:close/>
                  </a:path>
                </a:pathLst>
              </a:custGeom>
              <a:solidFill>
                <a:srgbClr val="3D4B5F"/>
              </a:solidFill>
            </p:spPr>
          </p:sp>
        </p:grpSp>
        <p:grpSp>
          <p:nvGrpSpPr>
            <p:cNvPr name="Group 53" id="53"/>
            <p:cNvGrpSpPr/>
            <p:nvPr/>
          </p:nvGrpSpPr>
          <p:grpSpPr>
            <a:xfrm rot="0">
              <a:off x="1148773" y="58086"/>
              <a:ext cx="20106635" cy="1090251"/>
              <a:chOff x="0" y="0"/>
              <a:chExt cx="15970597" cy="865981"/>
            </a:xfrm>
          </p:grpSpPr>
          <p:sp>
            <p:nvSpPr>
              <p:cNvPr name="Freeform 54" id="54"/>
              <p:cNvSpPr/>
              <p:nvPr/>
            </p:nvSpPr>
            <p:spPr>
              <a:xfrm flipH="false" flipV="false" rot="0">
                <a:off x="0" y="0"/>
                <a:ext cx="15970597" cy="865981"/>
              </a:xfrm>
              <a:custGeom>
                <a:avLst/>
                <a:gdLst/>
                <a:ahLst/>
                <a:cxnLst/>
                <a:rect r="r" b="b" t="t" l="l"/>
                <a:pathLst>
                  <a:path h="865981" w="15970597">
                    <a:moveTo>
                      <a:pt x="0" y="0"/>
                    </a:moveTo>
                    <a:lnTo>
                      <a:pt x="15970597" y="0"/>
                    </a:lnTo>
                    <a:lnTo>
                      <a:pt x="15970597" y="865981"/>
                    </a:lnTo>
                    <a:lnTo>
                      <a:pt x="0" y="86598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55" id="55"/>
              <p:cNvSpPr txBox="true"/>
              <p:nvPr/>
            </p:nvSpPr>
            <p:spPr>
              <a:xfrm>
                <a:off x="0" y="38100"/>
                <a:ext cx="15970597" cy="827881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239"/>
                  </a:lnSpc>
                </a:pPr>
                <a:r>
                  <a:rPr lang="en-US" sz="2999" b="true">
                    <a:solidFill>
                      <a:srgbClr val="000000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rPr>
                  <a:t>V. LESSON LEARN</a:t>
                </a:r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199787" y="4134231"/>
            <a:ext cx="5888425" cy="2018538"/>
            <a:chOff x="0" y="0"/>
            <a:chExt cx="7851233" cy="269138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851233" cy="2691384"/>
            </a:xfrm>
            <a:custGeom>
              <a:avLst/>
              <a:gdLst/>
              <a:ahLst/>
              <a:cxnLst/>
              <a:rect r="r" b="b" t="t" l="l"/>
              <a:pathLst>
                <a:path h="2691384" w="7851233">
                  <a:moveTo>
                    <a:pt x="0" y="0"/>
                  </a:moveTo>
                  <a:lnTo>
                    <a:pt x="7851233" y="0"/>
                  </a:lnTo>
                  <a:lnTo>
                    <a:pt x="7851233" y="2691384"/>
                  </a:lnTo>
                  <a:lnTo>
                    <a:pt x="0" y="269138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76200"/>
              <a:ext cx="7851233" cy="2615184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600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I. ABOUT OUR PROBLEM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9062" y="67970"/>
            <a:ext cx="18049875" cy="1002665"/>
            <a:chOff x="0" y="0"/>
            <a:chExt cx="24066500" cy="133688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066500" cy="1336887"/>
            </a:xfrm>
            <a:custGeom>
              <a:avLst/>
              <a:gdLst/>
              <a:ahLst/>
              <a:cxnLst/>
              <a:rect r="r" b="b" t="t" l="l"/>
              <a:pathLst>
                <a:path h="1336887" w="24066500">
                  <a:moveTo>
                    <a:pt x="0" y="0"/>
                  </a:moveTo>
                  <a:lnTo>
                    <a:pt x="24066500" y="0"/>
                  </a:lnTo>
                  <a:lnTo>
                    <a:pt x="24066500" y="1336887"/>
                  </a:lnTo>
                  <a:lnTo>
                    <a:pt x="0" y="133688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57150"/>
              <a:ext cx="24066500" cy="1279737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500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I. ABOUT OUR PROBLEM</a:t>
              </a: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0328433" y="1432526"/>
            <a:ext cx="7510606" cy="5632954"/>
          </a:xfrm>
          <a:custGeom>
            <a:avLst/>
            <a:gdLst/>
            <a:ahLst/>
            <a:cxnLst/>
            <a:rect r="r" b="b" t="t" l="l"/>
            <a:pathLst>
              <a:path h="5632954" w="7510606">
                <a:moveTo>
                  <a:pt x="0" y="0"/>
                </a:moveTo>
                <a:lnTo>
                  <a:pt x="7510606" y="0"/>
                </a:lnTo>
                <a:lnTo>
                  <a:pt x="7510606" y="5632954"/>
                </a:lnTo>
                <a:lnTo>
                  <a:pt x="0" y="56329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19062" y="2750606"/>
            <a:ext cx="9797316" cy="3914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55649" indent="-377824" lvl="1">
              <a:lnSpc>
                <a:spcPts val="5249"/>
              </a:lnSpc>
              <a:buFont typeface="Arial"/>
              <a:buChar char="•"/>
            </a:pPr>
            <a:r>
              <a:rPr lang="en-US" b="true" sz="349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Peak</a:t>
            </a:r>
            <a:r>
              <a:rPr lang="en-US" sz="3499" spc="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hour traffic causes severe urban </a:t>
            </a:r>
            <a:r>
              <a:rPr lang="en-US" b="true" sz="349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congestion</a:t>
            </a:r>
            <a:r>
              <a:rPr lang="en-US" sz="3499" spc="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b="true" sz="349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daily</a:t>
            </a:r>
            <a:r>
              <a:rPr lang="en-US" sz="3499" spc="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algn="just">
              <a:lnSpc>
                <a:spcPts val="5249"/>
              </a:lnSpc>
            </a:pPr>
          </a:p>
          <a:p>
            <a:pPr algn="just" marL="755649" indent="-377824" lvl="1">
              <a:lnSpc>
                <a:spcPts val="5249"/>
              </a:lnSpc>
              <a:buFont typeface="Arial"/>
              <a:buChar char="•"/>
            </a:pPr>
            <a:r>
              <a:rPr lang="en-US" b="true" sz="349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Real</a:t>
            </a:r>
            <a:r>
              <a:rPr lang="en-US" sz="3499" spc="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-</a:t>
            </a:r>
            <a:r>
              <a:rPr lang="en-US" b="true" sz="349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time</a:t>
            </a:r>
            <a:r>
              <a:rPr lang="en-US" sz="3499" spc="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image d</a:t>
            </a:r>
            <a:r>
              <a:rPr lang="en-US" sz="3499" spc="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ata provides </a:t>
            </a:r>
            <a:r>
              <a:rPr lang="en-US" b="true" sz="349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vital</a:t>
            </a:r>
            <a:r>
              <a:rPr lang="en-US" sz="3499" spc="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traffic </a:t>
            </a:r>
            <a:r>
              <a:rPr lang="en-US" b="true" sz="349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insights</a:t>
            </a:r>
            <a:r>
              <a:rPr lang="en-US" sz="3499" spc="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algn="just">
              <a:lnSpc>
                <a:spcPts val="5249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531726" y="1442018"/>
            <a:ext cx="7053676" cy="590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I. OUR PROBLEM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76250" y="7039074"/>
            <a:ext cx="12546870" cy="19429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249"/>
              </a:lnSpc>
            </a:pPr>
            <a:r>
              <a:rPr lang="en-US" sz="3499" spc="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→ </a:t>
            </a:r>
            <a:r>
              <a:rPr lang="en-US" b="true" sz="349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Optimize</a:t>
            </a:r>
            <a:r>
              <a:rPr lang="en-US" sz="3499" spc="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r</a:t>
            </a:r>
            <a:r>
              <a:rPr lang="en-US" sz="3499" spc="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out</a:t>
            </a:r>
            <a:r>
              <a:rPr lang="en-US" sz="3499" spc="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</a:t>
            </a:r>
            <a:r>
              <a:rPr lang="en-US" sz="3499" spc="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</a:t>
            </a:r>
            <a:r>
              <a:rPr lang="en-US" sz="3499" spc="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499" spc="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to </a:t>
            </a:r>
            <a:r>
              <a:rPr lang="en-US" b="true" sz="349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reduce</a:t>
            </a:r>
            <a:r>
              <a:rPr lang="en-US" sz="3499" spc="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total </a:t>
            </a:r>
            <a:r>
              <a:rPr lang="en-US" b="true" sz="349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travel</a:t>
            </a:r>
            <a:r>
              <a:rPr lang="en-US" sz="3499" spc="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time.</a:t>
            </a:r>
          </a:p>
          <a:p>
            <a:pPr algn="just">
              <a:lnSpc>
                <a:spcPts val="5249"/>
              </a:lnSpc>
            </a:pPr>
          </a:p>
          <a:p>
            <a:pPr algn="just">
              <a:lnSpc>
                <a:spcPts val="5249"/>
              </a:lnSpc>
            </a:pPr>
            <a:r>
              <a:rPr lang="en-US" sz="3499" spc="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→ </a:t>
            </a:r>
            <a:r>
              <a:rPr lang="en-US" b="true" sz="349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Effici</a:t>
            </a:r>
            <a:r>
              <a:rPr lang="en-US" b="true" sz="349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ently</a:t>
            </a:r>
            <a:r>
              <a:rPr lang="en-US" sz="3499" spc="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b="true" sz="349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monitor</a:t>
            </a:r>
            <a:r>
              <a:rPr lang="en-US" sz="3499" spc="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499" spc="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</a:t>
            </a:r>
            <a:r>
              <a:rPr lang="en-US" sz="3499" spc="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lo</a:t>
            </a:r>
            <a:r>
              <a:rPr lang="en-US" sz="3499" spc="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w using </a:t>
            </a:r>
            <a:r>
              <a:rPr lang="en-US" b="true" sz="349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AI-driven analysis</a:t>
            </a:r>
            <a:r>
              <a:rPr lang="en-US" sz="3499" spc="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9062" y="67970"/>
            <a:ext cx="18049875" cy="1002665"/>
            <a:chOff x="0" y="0"/>
            <a:chExt cx="24066500" cy="133688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066500" cy="1336887"/>
            </a:xfrm>
            <a:custGeom>
              <a:avLst/>
              <a:gdLst/>
              <a:ahLst/>
              <a:cxnLst/>
              <a:rect r="r" b="b" t="t" l="l"/>
              <a:pathLst>
                <a:path h="1336887" w="24066500">
                  <a:moveTo>
                    <a:pt x="0" y="0"/>
                  </a:moveTo>
                  <a:lnTo>
                    <a:pt x="24066500" y="0"/>
                  </a:lnTo>
                  <a:lnTo>
                    <a:pt x="24066500" y="1336887"/>
                  </a:lnTo>
                  <a:lnTo>
                    <a:pt x="0" y="133688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57150"/>
              <a:ext cx="24066500" cy="1279737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500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I. ABOUT OUR PROBLEM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772882" y="5615785"/>
            <a:ext cx="6564926" cy="2961498"/>
            <a:chOff x="0" y="0"/>
            <a:chExt cx="9321267" cy="420490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321267" cy="4204908"/>
            </a:xfrm>
            <a:custGeom>
              <a:avLst/>
              <a:gdLst/>
              <a:ahLst/>
              <a:cxnLst/>
              <a:rect r="r" b="b" t="t" l="l"/>
              <a:pathLst>
                <a:path h="4204908" w="9321267">
                  <a:moveTo>
                    <a:pt x="35379" y="0"/>
                  </a:moveTo>
                  <a:lnTo>
                    <a:pt x="9285889" y="0"/>
                  </a:lnTo>
                  <a:cubicBezTo>
                    <a:pt x="9295272" y="0"/>
                    <a:pt x="9304271" y="3727"/>
                    <a:pt x="9310905" y="10362"/>
                  </a:cubicBezTo>
                  <a:cubicBezTo>
                    <a:pt x="9317540" y="16997"/>
                    <a:pt x="9321267" y="25996"/>
                    <a:pt x="9321267" y="35379"/>
                  </a:cubicBezTo>
                  <a:lnTo>
                    <a:pt x="9321267" y="4169530"/>
                  </a:lnTo>
                  <a:cubicBezTo>
                    <a:pt x="9321267" y="4189069"/>
                    <a:pt x="9305428" y="4204908"/>
                    <a:pt x="9285889" y="4204908"/>
                  </a:cubicBezTo>
                  <a:lnTo>
                    <a:pt x="35379" y="4204908"/>
                  </a:lnTo>
                  <a:cubicBezTo>
                    <a:pt x="15840" y="4204908"/>
                    <a:pt x="0" y="4189069"/>
                    <a:pt x="0" y="4169530"/>
                  </a:cubicBezTo>
                  <a:lnTo>
                    <a:pt x="0" y="35379"/>
                  </a:lnTo>
                  <a:cubicBezTo>
                    <a:pt x="0" y="25996"/>
                    <a:pt x="3727" y="16997"/>
                    <a:pt x="10362" y="10362"/>
                  </a:cubicBezTo>
                  <a:cubicBezTo>
                    <a:pt x="16997" y="3727"/>
                    <a:pt x="25996" y="0"/>
                    <a:pt x="35379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dash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9321267" cy="4243008"/>
            </a:xfrm>
            <a:prstGeom prst="rect">
              <a:avLst/>
            </a:prstGeom>
          </p:spPr>
          <p:txBody>
            <a:bodyPr anchor="ctr" rtlCol="false" tIns="46529" lIns="46529" bIns="46529" rIns="46529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4878768" y="5931406"/>
            <a:ext cx="1309232" cy="1760888"/>
          </a:xfrm>
          <a:custGeom>
            <a:avLst/>
            <a:gdLst/>
            <a:ahLst/>
            <a:cxnLst/>
            <a:rect r="r" b="b" t="t" l="l"/>
            <a:pathLst>
              <a:path h="1760888" w="1309232">
                <a:moveTo>
                  <a:pt x="0" y="0"/>
                </a:moveTo>
                <a:lnTo>
                  <a:pt x="1309232" y="0"/>
                </a:lnTo>
                <a:lnTo>
                  <a:pt x="1309232" y="1760888"/>
                </a:lnTo>
                <a:lnTo>
                  <a:pt x="0" y="17608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8785550" y="1963435"/>
            <a:ext cx="3315087" cy="1925126"/>
            <a:chOff x="0" y="0"/>
            <a:chExt cx="2783173" cy="161623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783173" cy="1616234"/>
            </a:xfrm>
            <a:custGeom>
              <a:avLst/>
              <a:gdLst/>
              <a:ahLst/>
              <a:cxnLst/>
              <a:rect r="r" b="b" t="t" l="l"/>
              <a:pathLst>
                <a:path h="1616234" w="2783173">
                  <a:moveTo>
                    <a:pt x="70061" y="0"/>
                  </a:moveTo>
                  <a:lnTo>
                    <a:pt x="2713112" y="0"/>
                  </a:lnTo>
                  <a:cubicBezTo>
                    <a:pt x="2731693" y="0"/>
                    <a:pt x="2749513" y="7381"/>
                    <a:pt x="2762652" y="20520"/>
                  </a:cubicBezTo>
                  <a:cubicBezTo>
                    <a:pt x="2775791" y="33659"/>
                    <a:pt x="2783173" y="51480"/>
                    <a:pt x="2783173" y="70061"/>
                  </a:cubicBezTo>
                  <a:lnTo>
                    <a:pt x="2783173" y="1546174"/>
                  </a:lnTo>
                  <a:cubicBezTo>
                    <a:pt x="2783173" y="1564755"/>
                    <a:pt x="2775791" y="1582575"/>
                    <a:pt x="2762652" y="1595714"/>
                  </a:cubicBezTo>
                  <a:cubicBezTo>
                    <a:pt x="2749513" y="1608853"/>
                    <a:pt x="2731693" y="1616234"/>
                    <a:pt x="2713112" y="1616234"/>
                  </a:cubicBezTo>
                  <a:lnTo>
                    <a:pt x="70061" y="1616234"/>
                  </a:lnTo>
                  <a:cubicBezTo>
                    <a:pt x="51480" y="1616234"/>
                    <a:pt x="33659" y="1608853"/>
                    <a:pt x="20520" y="1595714"/>
                  </a:cubicBezTo>
                  <a:cubicBezTo>
                    <a:pt x="7381" y="1582575"/>
                    <a:pt x="0" y="1564755"/>
                    <a:pt x="0" y="1546174"/>
                  </a:cubicBezTo>
                  <a:lnTo>
                    <a:pt x="0" y="70061"/>
                  </a:lnTo>
                  <a:cubicBezTo>
                    <a:pt x="0" y="51480"/>
                    <a:pt x="7381" y="33659"/>
                    <a:pt x="20520" y="20520"/>
                  </a:cubicBezTo>
                  <a:cubicBezTo>
                    <a:pt x="33659" y="7381"/>
                    <a:pt x="51480" y="0"/>
                    <a:pt x="70061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dash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783173" cy="1654334"/>
            </a:xfrm>
            <a:prstGeom prst="rect">
              <a:avLst/>
            </a:prstGeom>
          </p:spPr>
          <p:txBody>
            <a:bodyPr anchor="ctr" rtlCol="false" tIns="46529" lIns="46529" bIns="46529" rIns="46529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13" id="13"/>
          <p:cNvSpPr/>
          <p:nvPr/>
        </p:nvSpPr>
        <p:spPr>
          <a:xfrm>
            <a:off x="11707584" y="3185965"/>
            <a:ext cx="1167864" cy="0"/>
          </a:xfrm>
          <a:prstGeom prst="line">
            <a:avLst/>
          </a:prstGeom>
          <a:ln cap="flat" w="85725">
            <a:solidFill>
              <a:srgbClr val="10AA5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4" id="14"/>
          <p:cNvSpPr/>
          <p:nvPr/>
        </p:nvSpPr>
        <p:spPr>
          <a:xfrm flipV="true">
            <a:off x="16768756" y="3138929"/>
            <a:ext cx="42862" cy="4213168"/>
          </a:xfrm>
          <a:prstGeom prst="line">
            <a:avLst/>
          </a:prstGeom>
          <a:ln cap="flat" w="85725">
            <a:solidFill>
              <a:srgbClr val="10AA50"/>
            </a:solidFill>
            <a:prstDash val="solid"/>
            <a:headEnd type="arrow" len="sm" w="med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 flipV="true">
            <a:off x="7485954" y="3185965"/>
            <a:ext cx="2317509" cy="850"/>
          </a:xfrm>
          <a:prstGeom prst="line">
            <a:avLst/>
          </a:prstGeom>
          <a:ln cap="flat" w="76200">
            <a:solidFill>
              <a:srgbClr val="604CC3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Freeform 16" id="16"/>
          <p:cNvSpPr/>
          <p:nvPr/>
        </p:nvSpPr>
        <p:spPr>
          <a:xfrm flipH="false" flipV="false" rot="0">
            <a:off x="9803463" y="2654044"/>
            <a:ext cx="1411700" cy="1063841"/>
          </a:xfrm>
          <a:custGeom>
            <a:avLst/>
            <a:gdLst/>
            <a:ahLst/>
            <a:cxnLst/>
            <a:rect r="r" b="b" t="t" l="l"/>
            <a:pathLst>
              <a:path h="1063841" w="1411700">
                <a:moveTo>
                  <a:pt x="0" y="0"/>
                </a:moveTo>
                <a:lnTo>
                  <a:pt x="1411700" y="0"/>
                </a:lnTo>
                <a:lnTo>
                  <a:pt x="1411700" y="1063841"/>
                </a:lnTo>
                <a:lnTo>
                  <a:pt x="0" y="10638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028700" y="5811894"/>
            <a:ext cx="1540203" cy="1540203"/>
          </a:xfrm>
          <a:custGeom>
            <a:avLst/>
            <a:gdLst/>
            <a:ahLst/>
            <a:cxnLst/>
            <a:rect r="r" b="b" t="t" l="l"/>
            <a:pathLst>
              <a:path h="1540203" w="1540203">
                <a:moveTo>
                  <a:pt x="0" y="0"/>
                </a:moveTo>
                <a:lnTo>
                  <a:pt x="1540203" y="0"/>
                </a:lnTo>
                <a:lnTo>
                  <a:pt x="1540203" y="1540203"/>
                </a:lnTo>
                <a:lnTo>
                  <a:pt x="0" y="154020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335789" y="1963435"/>
            <a:ext cx="7439112" cy="1925126"/>
            <a:chOff x="0" y="0"/>
            <a:chExt cx="6245487" cy="161623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245487" cy="1616234"/>
            </a:xfrm>
            <a:custGeom>
              <a:avLst/>
              <a:gdLst/>
              <a:ahLst/>
              <a:cxnLst/>
              <a:rect r="r" b="b" t="t" l="l"/>
              <a:pathLst>
                <a:path h="1616234" w="6245487">
                  <a:moveTo>
                    <a:pt x="31221" y="0"/>
                  </a:moveTo>
                  <a:lnTo>
                    <a:pt x="6214266" y="0"/>
                  </a:lnTo>
                  <a:cubicBezTo>
                    <a:pt x="6231509" y="0"/>
                    <a:pt x="6245487" y="13978"/>
                    <a:pt x="6245487" y="31221"/>
                  </a:cubicBezTo>
                  <a:lnTo>
                    <a:pt x="6245487" y="1585013"/>
                  </a:lnTo>
                  <a:cubicBezTo>
                    <a:pt x="6245487" y="1602256"/>
                    <a:pt x="6231509" y="1616234"/>
                    <a:pt x="6214266" y="1616234"/>
                  </a:cubicBezTo>
                  <a:lnTo>
                    <a:pt x="31221" y="1616234"/>
                  </a:lnTo>
                  <a:cubicBezTo>
                    <a:pt x="13978" y="1616234"/>
                    <a:pt x="0" y="1602256"/>
                    <a:pt x="0" y="1585013"/>
                  </a:cubicBezTo>
                  <a:lnTo>
                    <a:pt x="0" y="31221"/>
                  </a:lnTo>
                  <a:cubicBezTo>
                    <a:pt x="0" y="13978"/>
                    <a:pt x="13978" y="0"/>
                    <a:pt x="31221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dash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6245487" cy="1654334"/>
            </a:xfrm>
            <a:prstGeom prst="rect">
              <a:avLst/>
            </a:prstGeom>
          </p:spPr>
          <p:txBody>
            <a:bodyPr anchor="ctr" rtlCol="false" tIns="37825" lIns="37825" bIns="37825" rIns="37825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21" id="21"/>
          <p:cNvSpPr/>
          <p:nvPr/>
        </p:nvSpPr>
        <p:spPr>
          <a:xfrm>
            <a:off x="1794596" y="3186814"/>
            <a:ext cx="2871709" cy="0"/>
          </a:xfrm>
          <a:prstGeom prst="line">
            <a:avLst/>
          </a:prstGeom>
          <a:ln cap="flat" w="66675">
            <a:solidFill>
              <a:srgbClr val="C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Freeform 22" id="22"/>
          <p:cNvSpPr/>
          <p:nvPr/>
        </p:nvSpPr>
        <p:spPr>
          <a:xfrm flipH="false" flipV="false" rot="0">
            <a:off x="778628" y="2654894"/>
            <a:ext cx="1015968" cy="1063841"/>
          </a:xfrm>
          <a:custGeom>
            <a:avLst/>
            <a:gdLst/>
            <a:ahLst/>
            <a:cxnLst/>
            <a:rect r="r" b="b" t="t" l="l"/>
            <a:pathLst>
              <a:path h="1063841" w="1015968">
                <a:moveTo>
                  <a:pt x="0" y="0"/>
                </a:moveTo>
                <a:lnTo>
                  <a:pt x="1015968" y="0"/>
                </a:lnTo>
                <a:lnTo>
                  <a:pt x="1015968" y="1063841"/>
                </a:lnTo>
                <a:lnTo>
                  <a:pt x="0" y="106384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4666305" y="2654894"/>
            <a:ext cx="2819649" cy="1063841"/>
          </a:xfrm>
          <a:custGeom>
            <a:avLst/>
            <a:gdLst/>
            <a:ahLst/>
            <a:cxnLst/>
            <a:rect r="r" b="b" t="t" l="l"/>
            <a:pathLst>
              <a:path h="1063841" w="2819649">
                <a:moveTo>
                  <a:pt x="0" y="0"/>
                </a:moveTo>
                <a:lnTo>
                  <a:pt x="2819649" y="0"/>
                </a:lnTo>
                <a:lnTo>
                  <a:pt x="2819649" y="1063841"/>
                </a:lnTo>
                <a:lnTo>
                  <a:pt x="0" y="106384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2048477" y="1340167"/>
            <a:ext cx="3526185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5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Pre - processing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39356" y="2030225"/>
            <a:ext cx="894513" cy="473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09"/>
              </a:lnSpc>
              <a:spcBef>
                <a:spcPct val="0"/>
              </a:spcBef>
            </a:pPr>
            <a:r>
              <a:rPr lang="en-US" sz="2606" i="true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input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4892647" y="2030225"/>
            <a:ext cx="2366965" cy="473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09"/>
              </a:lnSpc>
              <a:spcBef>
                <a:spcPct val="0"/>
              </a:spcBef>
            </a:pPr>
            <a:r>
              <a:rPr lang="en-US" sz="2606" i="true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LMDB format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634369" y="2654825"/>
            <a:ext cx="1257770" cy="4043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57"/>
              </a:lnSpc>
              <a:spcBef>
                <a:spcPct val="0"/>
              </a:spcBef>
            </a:pPr>
            <a:r>
              <a:rPr lang="en-US" sz="2606">
                <a:solidFill>
                  <a:srgbClr val="C00000"/>
                </a:solidFill>
                <a:latin typeface="Montserrat"/>
                <a:ea typeface="Montserrat"/>
                <a:cs typeface="Montserrat"/>
                <a:sym typeface="Montserrat"/>
              </a:rPr>
              <a:t>convert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358038" y="2617305"/>
            <a:ext cx="1710487" cy="402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62"/>
              </a:lnSpc>
              <a:spcBef>
                <a:spcPct val="0"/>
              </a:spcBef>
            </a:pPr>
            <a:r>
              <a:rPr lang="en-US" sz="2610">
                <a:solidFill>
                  <a:srgbClr val="10AA50"/>
                </a:solidFill>
                <a:latin typeface="Montserrat"/>
                <a:ea typeface="Montserrat"/>
                <a:cs typeface="Montserrat"/>
                <a:sym typeface="Montserrat"/>
              </a:rPr>
              <a:t>produce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13116150" y="1986097"/>
            <a:ext cx="3081824" cy="1902464"/>
            <a:chOff x="0" y="0"/>
            <a:chExt cx="4336814" cy="267719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336814" cy="2677191"/>
            </a:xfrm>
            <a:custGeom>
              <a:avLst/>
              <a:gdLst/>
              <a:ahLst/>
              <a:cxnLst/>
              <a:rect r="r" b="b" t="t" l="l"/>
              <a:pathLst>
                <a:path h="2677191" w="4336814">
                  <a:moveTo>
                    <a:pt x="75364" y="0"/>
                  </a:moveTo>
                  <a:lnTo>
                    <a:pt x="4261450" y="0"/>
                  </a:lnTo>
                  <a:cubicBezTo>
                    <a:pt x="4281438" y="0"/>
                    <a:pt x="4300606" y="7940"/>
                    <a:pt x="4314740" y="22074"/>
                  </a:cubicBezTo>
                  <a:cubicBezTo>
                    <a:pt x="4328873" y="36207"/>
                    <a:pt x="4336814" y="55376"/>
                    <a:pt x="4336814" y="75364"/>
                  </a:cubicBezTo>
                  <a:lnTo>
                    <a:pt x="4336814" y="2601827"/>
                  </a:lnTo>
                  <a:cubicBezTo>
                    <a:pt x="4336814" y="2621815"/>
                    <a:pt x="4328873" y="2640984"/>
                    <a:pt x="4314740" y="2655117"/>
                  </a:cubicBezTo>
                  <a:cubicBezTo>
                    <a:pt x="4300606" y="2669251"/>
                    <a:pt x="4281438" y="2677191"/>
                    <a:pt x="4261450" y="2677191"/>
                  </a:cubicBezTo>
                  <a:lnTo>
                    <a:pt x="75364" y="2677191"/>
                  </a:lnTo>
                  <a:cubicBezTo>
                    <a:pt x="55376" y="2677191"/>
                    <a:pt x="36207" y="2669251"/>
                    <a:pt x="22074" y="2655117"/>
                  </a:cubicBezTo>
                  <a:cubicBezTo>
                    <a:pt x="7940" y="2640984"/>
                    <a:pt x="0" y="2621815"/>
                    <a:pt x="0" y="2601827"/>
                  </a:cubicBezTo>
                  <a:lnTo>
                    <a:pt x="0" y="75364"/>
                  </a:lnTo>
                  <a:cubicBezTo>
                    <a:pt x="0" y="55376"/>
                    <a:pt x="7940" y="36207"/>
                    <a:pt x="22074" y="22074"/>
                  </a:cubicBezTo>
                  <a:cubicBezTo>
                    <a:pt x="36207" y="7940"/>
                    <a:pt x="55376" y="0"/>
                    <a:pt x="75364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dash"/>
              <a:round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4336814" cy="2715291"/>
            </a:xfrm>
            <a:prstGeom prst="rect">
              <a:avLst/>
            </a:prstGeom>
          </p:spPr>
          <p:txBody>
            <a:bodyPr anchor="ctr" rtlCol="false" tIns="22567" lIns="22567" bIns="22567" rIns="22567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32" id="32"/>
          <p:cNvSpPr/>
          <p:nvPr/>
        </p:nvSpPr>
        <p:spPr>
          <a:xfrm flipH="false" flipV="false" rot="0">
            <a:off x="13405722" y="2664350"/>
            <a:ext cx="2502682" cy="916972"/>
          </a:xfrm>
          <a:custGeom>
            <a:avLst/>
            <a:gdLst/>
            <a:ahLst/>
            <a:cxnLst/>
            <a:rect r="r" b="b" t="t" l="l"/>
            <a:pathLst>
              <a:path h="916972" w="2502682">
                <a:moveTo>
                  <a:pt x="0" y="0"/>
                </a:moveTo>
                <a:lnTo>
                  <a:pt x="2502681" y="0"/>
                </a:lnTo>
                <a:lnTo>
                  <a:pt x="2502681" y="916972"/>
                </a:lnTo>
                <a:lnTo>
                  <a:pt x="0" y="91697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-2709" r="0" b="-2709"/>
            </a:stretch>
          </a:blipFill>
        </p:spPr>
      </p:sp>
      <p:sp>
        <p:nvSpPr>
          <p:cNvPr name="AutoShape 33" id="33"/>
          <p:cNvSpPr/>
          <p:nvPr/>
        </p:nvSpPr>
        <p:spPr>
          <a:xfrm flipH="true">
            <a:off x="2871915" y="6581995"/>
            <a:ext cx="1832830" cy="0"/>
          </a:xfrm>
          <a:prstGeom prst="line">
            <a:avLst/>
          </a:prstGeom>
          <a:ln cap="flat" w="66675">
            <a:solidFill>
              <a:srgbClr val="C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34" id="34"/>
          <p:cNvSpPr txBox="true"/>
          <p:nvPr/>
        </p:nvSpPr>
        <p:spPr>
          <a:xfrm rot="0">
            <a:off x="772882" y="7734300"/>
            <a:ext cx="2377321" cy="472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5"/>
              </a:lnSpc>
              <a:spcBef>
                <a:spcPct val="0"/>
              </a:spcBef>
            </a:pPr>
            <a:r>
              <a:rPr lang="en-US" sz="2610" i="true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visualization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4143655" y="7858125"/>
            <a:ext cx="2779459" cy="342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10"/>
              </a:lnSpc>
            </a:pPr>
            <a:r>
              <a:rPr lang="en-US" sz="2610" i="true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nosql database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3212442" y="4937458"/>
            <a:ext cx="1685806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5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Serving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8810373" y="2158778"/>
            <a:ext cx="3279626" cy="3448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06"/>
              </a:lnSpc>
            </a:pPr>
            <a:r>
              <a:rPr lang="en-US" sz="2606" i="true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distributed storage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7913517" y="2654825"/>
            <a:ext cx="825696" cy="4043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57"/>
              </a:lnSpc>
              <a:spcBef>
                <a:spcPct val="0"/>
              </a:spcBef>
            </a:pPr>
            <a:r>
              <a:rPr lang="en-US" sz="2606">
                <a:solidFill>
                  <a:srgbClr val="604CC3"/>
                </a:solidFill>
                <a:latin typeface="Montserrat"/>
                <a:ea typeface="Montserrat"/>
                <a:cs typeface="Montserrat"/>
                <a:sym typeface="Montserrat"/>
              </a:rPr>
              <a:t>store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3066993" y="6112755"/>
            <a:ext cx="1489151" cy="402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62"/>
              </a:lnSpc>
              <a:spcBef>
                <a:spcPct val="0"/>
              </a:spcBef>
            </a:pPr>
            <a:r>
              <a:rPr lang="en-US" sz="2610">
                <a:solidFill>
                  <a:srgbClr val="C00000"/>
                </a:solidFill>
                <a:latin typeface="Montserrat"/>
                <a:ea typeface="Montserrat"/>
                <a:cs typeface="Montserrat"/>
                <a:sym typeface="Montserrat"/>
              </a:rPr>
              <a:t>convert</a:t>
            </a:r>
          </a:p>
        </p:txBody>
      </p:sp>
      <p:sp>
        <p:nvSpPr>
          <p:cNvPr name="TextBox 40" id="40"/>
          <p:cNvSpPr txBox="true"/>
          <p:nvPr/>
        </p:nvSpPr>
        <p:spPr>
          <a:xfrm rot="5400000">
            <a:off x="16310126" y="4895914"/>
            <a:ext cx="1907872" cy="495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07"/>
              </a:lnSpc>
              <a:spcBef>
                <a:spcPct val="0"/>
              </a:spcBef>
            </a:pPr>
            <a:r>
              <a:rPr lang="en-US" sz="3205">
                <a:solidFill>
                  <a:srgbClr val="10AA50"/>
                </a:solidFill>
                <a:latin typeface="Montserrat"/>
                <a:ea typeface="Montserrat"/>
                <a:cs typeface="Montserrat"/>
                <a:sym typeface="Montserrat"/>
              </a:rPr>
              <a:t>consume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9508078" y="1340167"/>
            <a:ext cx="2002471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5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Storage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0128737" y="9566409"/>
            <a:ext cx="4169089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5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Stream Processing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3224853" y="2161139"/>
            <a:ext cx="2921568" cy="342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10"/>
              </a:lnSpc>
            </a:pPr>
            <a:r>
              <a:rPr lang="en-US" sz="2610" i="true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message queue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3663732" y="1340167"/>
            <a:ext cx="1986660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5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Ingestion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8810373" y="4843208"/>
            <a:ext cx="6766709" cy="1949592"/>
            <a:chOff x="0" y="0"/>
            <a:chExt cx="9022278" cy="2599456"/>
          </a:xfrm>
        </p:grpSpPr>
        <p:grpSp>
          <p:nvGrpSpPr>
            <p:cNvPr name="Group 46" id="46"/>
            <p:cNvGrpSpPr/>
            <p:nvPr/>
          </p:nvGrpSpPr>
          <p:grpSpPr>
            <a:xfrm rot="0">
              <a:off x="0" y="15542"/>
              <a:ext cx="9022278" cy="2568371"/>
              <a:chOff x="0" y="0"/>
              <a:chExt cx="9607770" cy="2735043"/>
            </a:xfrm>
          </p:grpSpPr>
          <p:sp>
            <p:nvSpPr>
              <p:cNvPr name="Freeform 47" id="47"/>
              <p:cNvSpPr/>
              <p:nvPr/>
            </p:nvSpPr>
            <p:spPr>
              <a:xfrm flipH="false" flipV="false" rot="0">
                <a:off x="0" y="0"/>
                <a:ext cx="9607770" cy="2735043"/>
              </a:xfrm>
              <a:custGeom>
                <a:avLst/>
                <a:gdLst/>
                <a:ahLst/>
                <a:cxnLst/>
                <a:rect r="r" b="b" t="t" l="l"/>
                <a:pathLst>
                  <a:path h="2735043" w="9607770">
                    <a:moveTo>
                      <a:pt x="34324" y="0"/>
                    </a:moveTo>
                    <a:lnTo>
                      <a:pt x="9573447" y="0"/>
                    </a:lnTo>
                    <a:cubicBezTo>
                      <a:pt x="9582550" y="0"/>
                      <a:pt x="9591280" y="3616"/>
                      <a:pt x="9597717" y="10053"/>
                    </a:cubicBezTo>
                    <a:cubicBezTo>
                      <a:pt x="9604154" y="16490"/>
                      <a:pt x="9607770" y="25220"/>
                      <a:pt x="9607770" y="34324"/>
                    </a:cubicBezTo>
                    <a:lnTo>
                      <a:pt x="9607770" y="2700720"/>
                    </a:lnTo>
                    <a:cubicBezTo>
                      <a:pt x="9607770" y="2709823"/>
                      <a:pt x="9604154" y="2718553"/>
                      <a:pt x="9597717" y="2724990"/>
                    </a:cubicBezTo>
                    <a:cubicBezTo>
                      <a:pt x="9591280" y="2731427"/>
                      <a:pt x="9582550" y="2735043"/>
                      <a:pt x="9573447" y="2735043"/>
                    </a:cubicBezTo>
                    <a:lnTo>
                      <a:pt x="34324" y="2735043"/>
                    </a:lnTo>
                    <a:cubicBezTo>
                      <a:pt x="25220" y="2735043"/>
                      <a:pt x="16490" y="2731427"/>
                      <a:pt x="10053" y="2724990"/>
                    </a:cubicBezTo>
                    <a:cubicBezTo>
                      <a:pt x="3616" y="2718553"/>
                      <a:pt x="0" y="2709823"/>
                      <a:pt x="0" y="2700720"/>
                    </a:cubicBezTo>
                    <a:lnTo>
                      <a:pt x="0" y="34324"/>
                    </a:lnTo>
                    <a:cubicBezTo>
                      <a:pt x="0" y="25220"/>
                      <a:pt x="3616" y="16490"/>
                      <a:pt x="10053" y="10053"/>
                    </a:cubicBezTo>
                    <a:cubicBezTo>
                      <a:pt x="16490" y="3616"/>
                      <a:pt x="25220" y="0"/>
                      <a:pt x="3432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rnd">
                <a:solidFill>
                  <a:srgbClr val="000000"/>
                </a:solidFill>
                <a:prstDash val="dash"/>
                <a:round/>
              </a:ln>
            </p:spPr>
          </p:sp>
          <p:sp>
            <p:nvSpPr>
              <p:cNvPr name="TextBox 48" id="48"/>
              <p:cNvSpPr txBox="true"/>
              <p:nvPr/>
            </p:nvSpPr>
            <p:spPr>
              <a:xfrm>
                <a:off x="0" y="-38100"/>
                <a:ext cx="9607770" cy="2773143"/>
              </a:xfrm>
              <a:prstGeom prst="rect">
                <a:avLst/>
              </a:prstGeom>
            </p:spPr>
            <p:txBody>
              <a:bodyPr anchor="ctr" rtlCol="false" tIns="46529" lIns="46529" bIns="46529" rIns="46529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AutoShape 49" id="49"/>
            <p:cNvSpPr/>
            <p:nvPr/>
          </p:nvSpPr>
          <p:spPr>
            <a:xfrm flipV="true">
              <a:off x="3424178" y="15542"/>
              <a:ext cx="1987023" cy="2568371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lgDash"/>
              <a:headEnd type="none" len="sm" w="sm"/>
              <a:tailEnd type="none" len="sm" w="sm"/>
            </a:ln>
          </p:spPr>
        </p:sp>
        <p:sp>
          <p:nvSpPr>
            <p:cNvPr name="Freeform 50" id="50"/>
            <p:cNvSpPr/>
            <p:nvPr/>
          </p:nvSpPr>
          <p:spPr>
            <a:xfrm flipH="false" flipV="false" rot="0">
              <a:off x="410527" y="467638"/>
              <a:ext cx="3452422" cy="1664180"/>
            </a:xfrm>
            <a:custGeom>
              <a:avLst/>
              <a:gdLst/>
              <a:ahLst/>
              <a:cxnLst/>
              <a:rect r="r" b="b" t="t" l="l"/>
              <a:pathLst>
                <a:path h="1664180" w="3452422">
                  <a:moveTo>
                    <a:pt x="0" y="0"/>
                  </a:moveTo>
                  <a:lnTo>
                    <a:pt x="3452422" y="0"/>
                  </a:lnTo>
                  <a:lnTo>
                    <a:pt x="3452422" y="1664180"/>
                  </a:lnTo>
                  <a:lnTo>
                    <a:pt x="0" y="16641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-8476" r="0" b="-8476"/>
              </a:stretch>
            </a:blipFill>
          </p:spPr>
        </p:sp>
        <p:sp>
          <p:nvSpPr>
            <p:cNvPr name="Freeform 51" id="51"/>
            <p:cNvSpPr/>
            <p:nvPr/>
          </p:nvSpPr>
          <p:spPr>
            <a:xfrm flipH="false" flipV="false" rot="0">
              <a:off x="5411201" y="467638"/>
              <a:ext cx="3452422" cy="1664180"/>
            </a:xfrm>
            <a:custGeom>
              <a:avLst/>
              <a:gdLst/>
              <a:ahLst/>
              <a:cxnLst/>
              <a:rect r="r" b="b" t="t" l="l"/>
              <a:pathLst>
                <a:path h="1664180" w="3452422">
                  <a:moveTo>
                    <a:pt x="0" y="0"/>
                  </a:moveTo>
                  <a:lnTo>
                    <a:pt x="3452422" y="0"/>
                  </a:lnTo>
                  <a:lnTo>
                    <a:pt x="3452422" y="1664180"/>
                  </a:lnTo>
                  <a:lnTo>
                    <a:pt x="0" y="16641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-8476" r="0" b="-8476"/>
              </a:stretch>
            </a:blipFill>
          </p:spPr>
        </p:sp>
      </p:grpSp>
      <p:sp>
        <p:nvSpPr>
          <p:cNvPr name="AutoShape 52" id="52"/>
          <p:cNvSpPr/>
          <p:nvPr/>
        </p:nvSpPr>
        <p:spPr>
          <a:xfrm flipH="true">
            <a:off x="7370381" y="5818004"/>
            <a:ext cx="1439992" cy="1303379"/>
          </a:xfrm>
          <a:prstGeom prst="line">
            <a:avLst/>
          </a:prstGeom>
          <a:ln cap="flat" w="76200">
            <a:solidFill>
              <a:srgbClr val="604CC3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53" id="53"/>
          <p:cNvGrpSpPr/>
          <p:nvPr/>
        </p:nvGrpSpPr>
        <p:grpSpPr>
          <a:xfrm rot="0">
            <a:off x="8810373" y="7468681"/>
            <a:ext cx="6731503" cy="1926279"/>
            <a:chOff x="0" y="0"/>
            <a:chExt cx="9557783" cy="2735043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9557782" cy="2735043"/>
            </a:xfrm>
            <a:custGeom>
              <a:avLst/>
              <a:gdLst/>
              <a:ahLst/>
              <a:cxnLst/>
              <a:rect r="r" b="b" t="t" l="l"/>
              <a:pathLst>
                <a:path h="2735043" w="9557782">
                  <a:moveTo>
                    <a:pt x="34503" y="0"/>
                  </a:moveTo>
                  <a:lnTo>
                    <a:pt x="9523279" y="0"/>
                  </a:lnTo>
                  <a:cubicBezTo>
                    <a:pt x="9542335" y="0"/>
                    <a:pt x="9557782" y="15448"/>
                    <a:pt x="9557782" y="34503"/>
                  </a:cubicBezTo>
                  <a:lnTo>
                    <a:pt x="9557782" y="2700540"/>
                  </a:lnTo>
                  <a:cubicBezTo>
                    <a:pt x="9557782" y="2719596"/>
                    <a:pt x="9542335" y="2735043"/>
                    <a:pt x="9523279" y="2735043"/>
                  </a:cubicBezTo>
                  <a:lnTo>
                    <a:pt x="34503" y="2735043"/>
                  </a:lnTo>
                  <a:cubicBezTo>
                    <a:pt x="15448" y="2735043"/>
                    <a:pt x="0" y="2719596"/>
                    <a:pt x="0" y="2700540"/>
                  </a:cubicBezTo>
                  <a:lnTo>
                    <a:pt x="0" y="34503"/>
                  </a:lnTo>
                  <a:cubicBezTo>
                    <a:pt x="0" y="15448"/>
                    <a:pt x="15448" y="0"/>
                    <a:pt x="34503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dash"/>
              <a:round/>
            </a:ln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9557783" cy="2773143"/>
            </a:xfrm>
            <a:prstGeom prst="rect">
              <a:avLst/>
            </a:prstGeom>
          </p:spPr>
          <p:txBody>
            <a:bodyPr anchor="ctr" rtlCol="false" tIns="46529" lIns="46529" bIns="46529" rIns="46529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6" id="56"/>
          <p:cNvSpPr/>
          <p:nvPr/>
        </p:nvSpPr>
        <p:spPr>
          <a:xfrm flipH="false" flipV="false" rot="0">
            <a:off x="12875449" y="7671995"/>
            <a:ext cx="1505399" cy="1505399"/>
          </a:xfrm>
          <a:custGeom>
            <a:avLst/>
            <a:gdLst/>
            <a:ahLst/>
            <a:cxnLst/>
            <a:rect r="r" b="b" t="t" l="l"/>
            <a:pathLst>
              <a:path h="1505399" w="1505399">
                <a:moveTo>
                  <a:pt x="0" y="0"/>
                </a:moveTo>
                <a:lnTo>
                  <a:pt x="1505399" y="0"/>
                </a:lnTo>
                <a:lnTo>
                  <a:pt x="1505399" y="1505400"/>
                </a:lnTo>
                <a:lnTo>
                  <a:pt x="0" y="150540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57" id="57"/>
          <p:cNvSpPr/>
          <p:nvPr/>
        </p:nvSpPr>
        <p:spPr>
          <a:xfrm flipH="false" flipV="false" rot="0">
            <a:off x="9500682" y="7807753"/>
            <a:ext cx="2589317" cy="1248135"/>
          </a:xfrm>
          <a:custGeom>
            <a:avLst/>
            <a:gdLst/>
            <a:ahLst/>
            <a:cxnLst/>
            <a:rect r="r" b="b" t="t" l="l"/>
            <a:pathLst>
              <a:path h="1248135" w="2589317">
                <a:moveTo>
                  <a:pt x="0" y="0"/>
                </a:moveTo>
                <a:lnTo>
                  <a:pt x="2589316" y="0"/>
                </a:lnTo>
                <a:lnTo>
                  <a:pt x="2589316" y="1248135"/>
                </a:lnTo>
                <a:lnTo>
                  <a:pt x="0" y="124813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-8476" r="0" b="-8476"/>
            </a:stretch>
          </a:blipFill>
        </p:spPr>
      </p:sp>
      <p:sp>
        <p:nvSpPr>
          <p:cNvPr name="TextBox 58" id="58"/>
          <p:cNvSpPr txBox="true"/>
          <p:nvPr/>
        </p:nvSpPr>
        <p:spPr>
          <a:xfrm rot="0">
            <a:off x="10128737" y="4195508"/>
            <a:ext cx="4169089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5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Batch Processing</a:t>
            </a:r>
          </a:p>
        </p:txBody>
      </p:sp>
      <p:sp>
        <p:nvSpPr>
          <p:cNvPr name="AutoShape 59" id="59"/>
          <p:cNvSpPr/>
          <p:nvPr/>
        </p:nvSpPr>
        <p:spPr>
          <a:xfrm flipH="true" flipV="true">
            <a:off x="7423388" y="7149542"/>
            <a:ext cx="1386984" cy="1282279"/>
          </a:xfrm>
          <a:prstGeom prst="line">
            <a:avLst/>
          </a:prstGeom>
          <a:ln cap="flat" w="76200">
            <a:solidFill>
              <a:srgbClr val="604CC3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60" id="60"/>
          <p:cNvSpPr/>
          <p:nvPr/>
        </p:nvSpPr>
        <p:spPr>
          <a:xfrm flipV="true">
            <a:off x="10128737" y="3717885"/>
            <a:ext cx="0" cy="1251678"/>
          </a:xfrm>
          <a:prstGeom prst="line">
            <a:avLst/>
          </a:prstGeom>
          <a:ln cap="flat" w="76200">
            <a:solidFill>
              <a:srgbClr val="604CC3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61" id="61"/>
          <p:cNvSpPr txBox="true"/>
          <p:nvPr/>
        </p:nvSpPr>
        <p:spPr>
          <a:xfrm rot="0">
            <a:off x="9144000" y="4226706"/>
            <a:ext cx="825696" cy="4043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57"/>
              </a:lnSpc>
              <a:spcBef>
                <a:spcPct val="0"/>
              </a:spcBef>
            </a:pPr>
            <a:r>
              <a:rPr lang="en-US" sz="2606">
                <a:solidFill>
                  <a:srgbClr val="604CC3"/>
                </a:solidFill>
                <a:latin typeface="Montserrat"/>
                <a:ea typeface="Montserrat"/>
                <a:cs typeface="Montserrat"/>
                <a:sym typeface="Montserrat"/>
              </a:rPr>
              <a:t>store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7913517" y="6889608"/>
            <a:ext cx="825696" cy="4043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57"/>
              </a:lnSpc>
              <a:spcBef>
                <a:spcPct val="0"/>
              </a:spcBef>
            </a:pPr>
            <a:r>
              <a:rPr lang="en-US" sz="2606">
                <a:solidFill>
                  <a:srgbClr val="604CC3"/>
                </a:solidFill>
                <a:latin typeface="Montserrat"/>
                <a:ea typeface="Montserrat"/>
                <a:cs typeface="Montserrat"/>
                <a:sym typeface="Montserrat"/>
              </a:rPr>
              <a:t>store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2176124" y="6300533"/>
            <a:ext cx="3279626" cy="344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06"/>
              </a:lnSpc>
            </a:pPr>
            <a:r>
              <a:rPr lang="en-US" sz="2606" i="true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metric_computing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8859975" y="5005133"/>
            <a:ext cx="3279626" cy="344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06"/>
              </a:lnSpc>
            </a:pPr>
            <a:r>
              <a:rPr lang="en-US" sz="2606" i="true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model_training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269111" y="4134165"/>
            <a:ext cx="9749778" cy="2018670"/>
            <a:chOff x="0" y="0"/>
            <a:chExt cx="12999704" cy="269156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999703" cy="2691561"/>
            </a:xfrm>
            <a:custGeom>
              <a:avLst/>
              <a:gdLst/>
              <a:ahLst/>
              <a:cxnLst/>
              <a:rect r="r" b="b" t="t" l="l"/>
              <a:pathLst>
                <a:path h="2691561" w="12999703">
                  <a:moveTo>
                    <a:pt x="0" y="0"/>
                  </a:moveTo>
                  <a:lnTo>
                    <a:pt x="12999703" y="0"/>
                  </a:lnTo>
                  <a:lnTo>
                    <a:pt x="12999703" y="2691561"/>
                  </a:lnTo>
                  <a:lnTo>
                    <a:pt x="0" y="269156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76200"/>
              <a:ext cx="12999704" cy="2615361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600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II. DATA INGESTION LAYER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9062" y="67970"/>
            <a:ext cx="18049875" cy="1002632"/>
            <a:chOff x="0" y="0"/>
            <a:chExt cx="24066500" cy="133684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066500" cy="1336843"/>
            </a:xfrm>
            <a:custGeom>
              <a:avLst/>
              <a:gdLst/>
              <a:ahLst/>
              <a:cxnLst/>
              <a:rect r="r" b="b" t="t" l="l"/>
              <a:pathLst>
                <a:path h="1336843" w="24066500">
                  <a:moveTo>
                    <a:pt x="0" y="0"/>
                  </a:moveTo>
                  <a:lnTo>
                    <a:pt x="24066500" y="0"/>
                  </a:lnTo>
                  <a:lnTo>
                    <a:pt x="24066500" y="1336843"/>
                  </a:lnTo>
                  <a:lnTo>
                    <a:pt x="0" y="133684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57150"/>
              <a:ext cx="24066500" cy="127969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500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II. DATA INGESTION LAYER</a:t>
              </a: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531726" y="4618220"/>
            <a:ext cx="8249031" cy="4640080"/>
          </a:xfrm>
          <a:custGeom>
            <a:avLst/>
            <a:gdLst/>
            <a:ahLst/>
            <a:cxnLst/>
            <a:rect r="r" b="b" t="t" l="l"/>
            <a:pathLst>
              <a:path h="4640080" w="8249031">
                <a:moveTo>
                  <a:pt x="0" y="0"/>
                </a:moveTo>
                <a:lnTo>
                  <a:pt x="8249031" y="0"/>
                </a:lnTo>
                <a:lnTo>
                  <a:pt x="8249031" y="4640080"/>
                </a:lnTo>
                <a:lnTo>
                  <a:pt x="0" y="46400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675946" y="4618220"/>
            <a:ext cx="8249031" cy="4640080"/>
          </a:xfrm>
          <a:custGeom>
            <a:avLst/>
            <a:gdLst/>
            <a:ahLst/>
            <a:cxnLst/>
            <a:rect r="r" b="b" t="t" l="l"/>
            <a:pathLst>
              <a:path h="4640080" w="8249031">
                <a:moveTo>
                  <a:pt x="0" y="0"/>
                </a:moveTo>
                <a:lnTo>
                  <a:pt x="8249031" y="0"/>
                </a:lnTo>
                <a:lnTo>
                  <a:pt x="8249031" y="4640080"/>
                </a:lnTo>
                <a:lnTo>
                  <a:pt x="0" y="46400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31726" y="1261072"/>
            <a:ext cx="7377912" cy="590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1. Data Source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1767217"/>
            <a:ext cx="16230600" cy="20702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55649" indent="-377824" lvl="1">
              <a:lnSpc>
                <a:spcPts val="8749"/>
              </a:lnSpc>
              <a:buFont typeface="Arial"/>
              <a:buChar char="•"/>
            </a:pPr>
            <a:r>
              <a:rPr lang="en-US" sz="3499" spc="17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Competition dataset contains 10,000 images of 10 cameras.</a:t>
            </a:r>
          </a:p>
          <a:p>
            <a:pPr algn="just" marL="755649" indent="-377824" lvl="1">
              <a:lnSpc>
                <a:spcPts val="8749"/>
              </a:lnSpc>
              <a:buFont typeface="Arial"/>
              <a:buChar char="•"/>
            </a:pPr>
            <a:r>
              <a:rPr lang="en-US" sz="3499" spc="17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Images include corresponding labels for object detection.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9062" y="67970"/>
            <a:ext cx="18049875" cy="1002632"/>
            <a:chOff x="0" y="0"/>
            <a:chExt cx="24066500" cy="133684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066500" cy="1336843"/>
            </a:xfrm>
            <a:custGeom>
              <a:avLst/>
              <a:gdLst/>
              <a:ahLst/>
              <a:cxnLst/>
              <a:rect r="r" b="b" t="t" l="l"/>
              <a:pathLst>
                <a:path h="1336843" w="24066500">
                  <a:moveTo>
                    <a:pt x="0" y="0"/>
                  </a:moveTo>
                  <a:lnTo>
                    <a:pt x="24066500" y="0"/>
                  </a:lnTo>
                  <a:lnTo>
                    <a:pt x="24066500" y="1336843"/>
                  </a:lnTo>
                  <a:lnTo>
                    <a:pt x="0" y="133684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57150"/>
              <a:ext cx="24066500" cy="127969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500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II. DATA INGESTION LAYER</a:t>
              </a:r>
            </a:p>
          </p:txBody>
        </p:sp>
      </p:grp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10038926" y="3964318"/>
          <a:ext cx="7816292" cy="5391150"/>
        </p:xfrm>
        <a:graphic>
          <a:graphicData uri="http://schemas.openxmlformats.org/drawingml/2006/table">
            <a:tbl>
              <a:tblPr/>
              <a:tblGrid>
                <a:gridCol w="3107519"/>
                <a:gridCol w="4708772"/>
              </a:tblGrid>
              <a:tr h="98020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Key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Value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</a:tr>
              <a:tr h="147031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cam_01_00001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C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FF D8 FF E0 00 10 4A 46 49 46 00 01 02 00 00 01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E3"/>
                    </a:solidFill>
                  </a:tcPr>
                </a:tc>
              </a:tr>
              <a:tr h="147031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cam_01_00002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C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FF D8 FF E0 00 10 4A 46 49 46 00 01 02 00 00 01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E3"/>
                    </a:solidFill>
                  </a:tcPr>
                </a:tc>
              </a:tr>
              <a:tr h="147031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cam_01_00003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C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FF D8 FF E0 00 10 4A 46 49 46 00 01 02 00 00 01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E3"/>
                    </a:solidFill>
                  </a:tcPr>
                </a:tc>
              </a:tr>
            </a:tbl>
          </a:graphicData>
        </a:graphic>
      </p:graphicFrame>
      <p:sp>
        <p:nvSpPr>
          <p:cNvPr name="AutoShape 7" id="7"/>
          <p:cNvSpPr/>
          <p:nvPr/>
        </p:nvSpPr>
        <p:spPr>
          <a:xfrm flipV="true">
            <a:off x="8479454" y="6659893"/>
            <a:ext cx="1559472" cy="0"/>
          </a:xfrm>
          <a:prstGeom prst="line">
            <a:avLst/>
          </a:prstGeom>
          <a:ln cap="flat" w="9525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8" id="8"/>
          <p:cNvSpPr txBox="true"/>
          <p:nvPr/>
        </p:nvSpPr>
        <p:spPr>
          <a:xfrm rot="0">
            <a:off x="1028700" y="1767217"/>
            <a:ext cx="16230600" cy="1844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55649" indent="-377824" lvl="1">
              <a:lnSpc>
                <a:spcPts val="8749"/>
              </a:lnSpc>
              <a:buFont typeface="Arial"/>
              <a:buChar char="•"/>
            </a:pPr>
            <a:r>
              <a:rPr lang="en-US" sz="3499" spc="17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Data processed are converted to LMDB format.</a:t>
            </a:r>
          </a:p>
          <a:p>
            <a:pPr algn="just" marL="755649" indent="-377824" lvl="1">
              <a:lnSpc>
                <a:spcPts val="5249"/>
              </a:lnSpc>
              <a:buFont typeface="Arial"/>
              <a:buChar char="•"/>
            </a:pPr>
            <a:r>
              <a:rPr lang="en-US" sz="3499" spc="17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LMDB format data are stored in Minio.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218010" y="4408390"/>
            <a:ext cx="8005343" cy="4503006"/>
          </a:xfrm>
          <a:custGeom>
            <a:avLst/>
            <a:gdLst/>
            <a:ahLst/>
            <a:cxnLst/>
            <a:rect r="r" b="b" t="t" l="l"/>
            <a:pathLst>
              <a:path h="4503006" w="8005343">
                <a:moveTo>
                  <a:pt x="0" y="0"/>
                </a:moveTo>
                <a:lnTo>
                  <a:pt x="8005344" y="0"/>
                </a:lnTo>
                <a:lnTo>
                  <a:pt x="8005344" y="4503006"/>
                </a:lnTo>
                <a:lnTo>
                  <a:pt x="0" y="45030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531726" y="1261072"/>
            <a:ext cx="7377912" cy="590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2. Data Preprocessing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9062" y="67970"/>
            <a:ext cx="18049875" cy="1002632"/>
            <a:chOff x="0" y="0"/>
            <a:chExt cx="24066500" cy="133684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066500" cy="1336843"/>
            </a:xfrm>
            <a:custGeom>
              <a:avLst/>
              <a:gdLst/>
              <a:ahLst/>
              <a:cxnLst/>
              <a:rect r="r" b="b" t="t" l="l"/>
              <a:pathLst>
                <a:path h="1336843" w="24066500">
                  <a:moveTo>
                    <a:pt x="0" y="0"/>
                  </a:moveTo>
                  <a:lnTo>
                    <a:pt x="24066500" y="0"/>
                  </a:lnTo>
                  <a:lnTo>
                    <a:pt x="24066500" y="1336843"/>
                  </a:lnTo>
                  <a:lnTo>
                    <a:pt x="0" y="133684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57150"/>
              <a:ext cx="24066500" cy="127969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500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II. DATA INGESTION LAYER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28700" y="2551800"/>
            <a:ext cx="16230600" cy="297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700" indent="-323850" lvl="1">
              <a:lnSpc>
                <a:spcPts val="6000"/>
              </a:lnSpc>
              <a:buFont typeface="Arial"/>
              <a:buChar char="•"/>
            </a:pPr>
            <a:r>
              <a:rPr lang="en-US" sz="3000" spc="15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Simulates live traffic camera feeds</a:t>
            </a:r>
          </a:p>
          <a:p>
            <a:pPr algn="just" marL="647700" indent="-323850" lvl="1">
              <a:lnSpc>
                <a:spcPts val="6000"/>
              </a:lnSpc>
              <a:buFont typeface="Arial"/>
              <a:buChar char="•"/>
            </a:pPr>
            <a:r>
              <a:rPr lang="en-US" sz="3000" spc="15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Reads serialized image data (LMDB).</a:t>
            </a:r>
          </a:p>
          <a:p>
            <a:pPr algn="just" marL="647700" indent="-323850" lvl="1">
              <a:lnSpc>
                <a:spcPts val="6000"/>
              </a:lnSpc>
              <a:buFont typeface="Arial"/>
              <a:buChar char="•"/>
            </a:pPr>
            <a:r>
              <a:rPr lang="en-US" sz="3000" spc="15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Maps camera_id to specific Kafka partitions.</a:t>
            </a:r>
          </a:p>
          <a:p>
            <a:pPr algn="just" marL="647700" indent="-323850" lvl="1">
              <a:lnSpc>
                <a:spcPts val="6000"/>
              </a:lnSpc>
              <a:buFont typeface="Arial"/>
              <a:buChar char="•"/>
            </a:pPr>
            <a:r>
              <a:rPr lang="en-US" sz="3000" spc="15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Sends binary/JSON payloads to Kafka topic: traffic_data.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31726" y="1261072"/>
            <a:ext cx="13776554" cy="590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3. Data Ingestion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2180291"/>
            <a:ext cx="13776554" cy="4572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Traffic Camera Producer</a:t>
            </a:r>
          </a:p>
        </p:txBody>
      </p:sp>
      <p:sp>
        <p:nvSpPr>
          <p:cNvPr name="AutoShape 9" id="9"/>
          <p:cNvSpPr/>
          <p:nvPr/>
        </p:nvSpPr>
        <p:spPr>
          <a:xfrm>
            <a:off x="927763" y="5923650"/>
            <a:ext cx="649224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1028700" y="6704873"/>
            <a:ext cx="16230600" cy="2209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700" indent="-323850" lvl="1">
              <a:lnSpc>
                <a:spcPts val="6000"/>
              </a:lnSpc>
              <a:buFont typeface="Arial"/>
              <a:buChar char="•"/>
            </a:pPr>
            <a:r>
              <a:rPr lang="en-US" sz="3000" spc="15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Deployed on Kubernetes using StatefulSets for persistence. </a:t>
            </a:r>
          </a:p>
          <a:p>
            <a:pPr algn="just" marL="647700" indent="-323850" lvl="1">
              <a:lnSpc>
                <a:spcPts val="6000"/>
              </a:lnSpc>
              <a:buFont typeface="Arial"/>
              <a:buChar char="•"/>
            </a:pPr>
            <a:r>
              <a:rPr lang="en-US" sz="3000" spc="15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Configured with 10 partitions to match 10 camera streams.</a:t>
            </a:r>
          </a:p>
          <a:p>
            <a:pPr algn="just" marL="647700" indent="-323850" lvl="1">
              <a:lnSpc>
                <a:spcPts val="6000"/>
              </a:lnSpc>
              <a:buFont typeface="Arial"/>
              <a:buChar char="•"/>
            </a:pPr>
            <a:r>
              <a:rPr lang="en-US" sz="3000" spc="15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Acts as a decoupling layer and backpressure buffer.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6333365"/>
            <a:ext cx="13776554" cy="4572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Kafka Cluster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9062" y="67970"/>
            <a:ext cx="18049875" cy="1002632"/>
            <a:chOff x="0" y="0"/>
            <a:chExt cx="24066500" cy="133684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066500" cy="1336843"/>
            </a:xfrm>
            <a:custGeom>
              <a:avLst/>
              <a:gdLst/>
              <a:ahLst/>
              <a:cxnLst/>
              <a:rect r="r" b="b" t="t" l="l"/>
              <a:pathLst>
                <a:path h="1336843" w="24066500">
                  <a:moveTo>
                    <a:pt x="0" y="0"/>
                  </a:moveTo>
                  <a:lnTo>
                    <a:pt x="24066500" y="0"/>
                  </a:lnTo>
                  <a:lnTo>
                    <a:pt x="24066500" y="1336843"/>
                  </a:lnTo>
                  <a:lnTo>
                    <a:pt x="0" y="133684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57150"/>
              <a:ext cx="24066500" cy="127969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500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II. DATA INGESTION LAYER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531726" y="1261072"/>
            <a:ext cx="13776554" cy="590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4. Data Flow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985520" y="2328004"/>
            <a:ext cx="6943697" cy="5526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02"/>
              </a:lnSpc>
            </a:pPr>
            <a:r>
              <a:rPr lang="en-US" sz="2573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{</a:t>
            </a:r>
          </a:p>
          <a:p>
            <a:pPr algn="just">
              <a:lnSpc>
                <a:spcPts val="3602"/>
              </a:lnSpc>
            </a:pPr>
            <a:r>
              <a:rPr lang="en-US" sz="2573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  "cam</a:t>
            </a:r>
            <a:r>
              <a:rPr lang="en-US" sz="2573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era_id": "cam_01",</a:t>
            </a:r>
          </a:p>
          <a:p>
            <a:pPr algn="just">
              <a:lnSpc>
                <a:spcPts val="3602"/>
              </a:lnSpc>
            </a:pPr>
            <a:r>
              <a:rPr lang="en-US" sz="2573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  "timestamp": "2025-01-01T00:00:00Z",</a:t>
            </a:r>
          </a:p>
          <a:p>
            <a:pPr algn="just">
              <a:lnSpc>
                <a:spcPts val="3602"/>
              </a:lnSpc>
            </a:pPr>
            <a:r>
              <a:rPr lang="en-US" sz="2573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  "image_id</a:t>
            </a:r>
            <a:r>
              <a:rPr lang="en-US" sz="2573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": “cam_01_00001,</a:t>
            </a:r>
          </a:p>
          <a:p>
            <a:pPr algn="just">
              <a:lnSpc>
                <a:spcPts val="3602"/>
              </a:lnSpc>
            </a:pPr>
            <a:r>
              <a:rPr lang="en-US" sz="2573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  "image": base64 data,</a:t>
            </a:r>
          </a:p>
          <a:p>
            <a:pPr algn="just">
              <a:lnSpc>
                <a:spcPts val="3602"/>
              </a:lnSpc>
            </a:pPr>
            <a:r>
              <a:rPr lang="en-US" sz="2573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  "objects": [</a:t>
            </a:r>
          </a:p>
          <a:p>
            <a:pPr algn="just">
              <a:lnSpc>
                <a:spcPts val="3602"/>
              </a:lnSpc>
            </a:pPr>
            <a:r>
              <a:rPr lang="en-US" sz="2573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   {</a:t>
            </a:r>
          </a:p>
          <a:p>
            <a:pPr algn="just">
              <a:lnSpc>
                <a:spcPts val="3602"/>
              </a:lnSpc>
            </a:pPr>
            <a:r>
              <a:rPr lang="en-US" sz="2573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   "class_id": 3,</a:t>
            </a:r>
          </a:p>
          <a:p>
            <a:pPr algn="just">
              <a:lnSpc>
                <a:spcPts val="3602"/>
              </a:lnSpc>
            </a:pPr>
            <a:r>
              <a:rPr lang="en-US" sz="2573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   "bbox": [747, 188, 814, 276 ],</a:t>
            </a:r>
          </a:p>
          <a:p>
            <a:pPr algn="just">
              <a:lnSpc>
                <a:spcPts val="3602"/>
              </a:lnSpc>
            </a:pPr>
            <a:r>
              <a:rPr lang="en-US" sz="2573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   }</a:t>
            </a:r>
          </a:p>
          <a:p>
            <a:pPr algn="just">
              <a:lnSpc>
                <a:spcPts val="3602"/>
              </a:lnSpc>
            </a:pPr>
            <a:r>
              <a:rPr lang="en-US" sz="2573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  ]</a:t>
            </a:r>
          </a:p>
          <a:p>
            <a:pPr algn="just">
              <a:lnSpc>
                <a:spcPts val="3602"/>
              </a:lnSpc>
            </a:pPr>
            <a:r>
              <a:rPr lang="en-US" sz="2573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}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31726" y="2162142"/>
            <a:ext cx="10053449" cy="6781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700" indent="-323850" lvl="1">
              <a:lnSpc>
                <a:spcPts val="6000"/>
              </a:lnSpc>
              <a:buFont typeface="Arial"/>
              <a:buChar char="•"/>
            </a:pPr>
            <a:r>
              <a:rPr lang="en-US" sz="3000" spc="15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Producers extract images and labels from LMDB and generate simulated real-time traffic events.</a:t>
            </a:r>
          </a:p>
          <a:p>
            <a:pPr algn="just" marL="647700" indent="-323850" lvl="1">
              <a:lnSpc>
                <a:spcPts val="6000"/>
              </a:lnSpc>
              <a:buFont typeface="Arial"/>
              <a:buChar char="•"/>
            </a:pPr>
            <a:r>
              <a:rPr lang="en-US" sz="3000" spc="15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Incoming messages are buffered in the Kafka topic traffic_data using UTF-8 JSON for metadata and Base64/Binary for images.</a:t>
            </a:r>
          </a:p>
          <a:p>
            <a:pPr algn="just" marL="647700" indent="-323850" lvl="1">
              <a:lnSpc>
                <a:spcPts val="6000"/>
              </a:lnSpc>
              <a:buFont typeface="Arial"/>
              <a:buChar char="•"/>
            </a:pPr>
            <a:r>
              <a:rPr lang="en-US" sz="3000" spc="15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Key-based Partitioning: Ensures all frames from a single camera always land in its corresponding partition.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199787" y="3724557"/>
            <a:ext cx="5888425" cy="2837887"/>
            <a:chOff x="0" y="0"/>
            <a:chExt cx="7851233" cy="378384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851233" cy="3783849"/>
            </a:xfrm>
            <a:custGeom>
              <a:avLst/>
              <a:gdLst/>
              <a:ahLst/>
              <a:cxnLst/>
              <a:rect r="r" b="b" t="t" l="l"/>
              <a:pathLst>
                <a:path h="3783849" w="7851233">
                  <a:moveTo>
                    <a:pt x="0" y="0"/>
                  </a:moveTo>
                  <a:lnTo>
                    <a:pt x="7851233" y="0"/>
                  </a:lnTo>
                  <a:lnTo>
                    <a:pt x="7851233" y="3783849"/>
                  </a:lnTo>
                  <a:lnTo>
                    <a:pt x="0" y="378384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76200"/>
              <a:ext cx="7851233" cy="3707649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600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III. STREAM PROCESSING LAYER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9062" y="67970"/>
            <a:ext cx="18049875" cy="1688399"/>
            <a:chOff x="0" y="0"/>
            <a:chExt cx="24066500" cy="225119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066500" cy="2251199"/>
            </a:xfrm>
            <a:custGeom>
              <a:avLst/>
              <a:gdLst/>
              <a:ahLst/>
              <a:cxnLst/>
              <a:rect r="r" b="b" t="t" l="l"/>
              <a:pathLst>
                <a:path h="2251199" w="24066500">
                  <a:moveTo>
                    <a:pt x="0" y="0"/>
                  </a:moveTo>
                  <a:lnTo>
                    <a:pt x="24066500" y="0"/>
                  </a:lnTo>
                  <a:lnTo>
                    <a:pt x="24066500" y="2251199"/>
                  </a:lnTo>
                  <a:lnTo>
                    <a:pt x="0" y="225119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57150"/>
              <a:ext cx="24066500" cy="2194049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500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III. STREAM PROCESSOR LAYER</a:t>
              </a:r>
            </a:p>
            <a:p>
              <a:pPr algn="l">
                <a:lnSpc>
                  <a:spcPts val="540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531726" y="1261072"/>
            <a:ext cx="13776554" cy="590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1. Spark deployment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1833892"/>
            <a:ext cx="16230600" cy="7496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700" indent="-323850" lvl="1">
              <a:lnSpc>
                <a:spcPts val="7500"/>
              </a:lnSpc>
              <a:buFont typeface="Arial"/>
              <a:buChar char="•"/>
            </a:pP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Deployment: Deployment with 1 replica. </a:t>
            </a:r>
          </a:p>
          <a:p>
            <a:pPr algn="just" marL="647700" indent="-323850" lvl="1">
              <a:lnSpc>
                <a:spcPts val="7500"/>
              </a:lnSpc>
              <a:buFont typeface="Arial"/>
              <a:buChar char="•"/>
            </a:pP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Storage: Ephemeral (In-Memory RAM-based, no Persistent Volume). </a:t>
            </a:r>
          </a:p>
          <a:p>
            <a:pPr algn="just" marL="647700" indent="-323850" lvl="1">
              <a:lnSpc>
                <a:spcPts val="7500"/>
              </a:lnSpc>
              <a:buFont typeface="Arial"/>
              <a:buChar char="•"/>
            </a:pP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Database Version: Official Redis Alpine image (Ligh</a:t>
            </a: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tw</a:t>
            </a: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eight). </a:t>
            </a:r>
          </a:p>
          <a:p>
            <a:pPr algn="just" marL="647700" indent="-323850" lvl="1">
              <a:lnSpc>
                <a:spcPts val="7500"/>
              </a:lnSpc>
              <a:buFont typeface="Arial"/>
              <a:buChar char="•"/>
            </a:pP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Service Str</a:t>
            </a: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ateg</a:t>
            </a: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y</a:t>
            </a: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:</a:t>
            </a:r>
          </a:p>
          <a:p>
            <a:pPr algn="just" marL="1295400" indent="-431800" lvl="2">
              <a:lnSpc>
                <a:spcPts val="7500"/>
              </a:lnSpc>
              <a:buFont typeface="Arial"/>
              <a:buChar char="⚬"/>
            </a:pP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Internal</a:t>
            </a: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:</a:t>
            </a: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 Port 6379 via</a:t>
            </a: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 redis-servic</a:t>
            </a: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e (ClusterIP) </a:t>
            </a: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f</a:t>
            </a: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or </a:t>
            </a: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Spark Wo</a:t>
            </a: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rkers</a:t>
            </a: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 coordination and metadata caching. </a:t>
            </a:r>
          </a:p>
          <a:p>
            <a:pPr algn="just" marL="1295400" indent="-431800" lvl="2">
              <a:lnSpc>
                <a:spcPts val="7500"/>
              </a:lnSpc>
              <a:buFont typeface="Arial"/>
              <a:buChar char="⚬"/>
            </a:pP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Security: Default standal</a:t>
            </a: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one mode (N</a:t>
            </a: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o password auth</a:t>
            </a: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entication configured in this ma</a:t>
            </a: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nifest).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9062" y="67970"/>
            <a:ext cx="18049875" cy="1688399"/>
            <a:chOff x="0" y="0"/>
            <a:chExt cx="24066500" cy="225119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066500" cy="2251199"/>
            </a:xfrm>
            <a:custGeom>
              <a:avLst/>
              <a:gdLst/>
              <a:ahLst/>
              <a:cxnLst/>
              <a:rect r="r" b="b" t="t" l="l"/>
              <a:pathLst>
                <a:path h="2251199" w="24066500">
                  <a:moveTo>
                    <a:pt x="0" y="0"/>
                  </a:moveTo>
                  <a:lnTo>
                    <a:pt x="24066500" y="0"/>
                  </a:lnTo>
                  <a:lnTo>
                    <a:pt x="24066500" y="2251199"/>
                  </a:lnTo>
                  <a:lnTo>
                    <a:pt x="0" y="225119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57150"/>
              <a:ext cx="24066500" cy="2194049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500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III. STREAM PROCESSOR LAYER</a:t>
              </a:r>
            </a:p>
            <a:p>
              <a:pPr algn="l">
                <a:lnSpc>
                  <a:spcPts val="540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531726" y="1261072"/>
            <a:ext cx="13776554" cy="590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2. Output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032528" y="1446826"/>
            <a:ext cx="7912776" cy="78123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02"/>
              </a:lnSpc>
            </a:pPr>
            <a:r>
              <a:rPr lang="en-US" sz="2573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🛢 traffic_db</a:t>
            </a:r>
          </a:p>
          <a:p>
            <a:pPr algn="just">
              <a:lnSpc>
                <a:spcPts val="3602"/>
              </a:lnSpc>
            </a:pPr>
            <a:r>
              <a:rPr lang="en-US" sz="2573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    📂realtime_monitor</a:t>
            </a:r>
          </a:p>
          <a:p>
            <a:pPr algn="just">
              <a:lnSpc>
                <a:spcPts val="3602"/>
              </a:lnSpc>
            </a:pPr>
            <a:r>
              <a:rPr lang="en-US" sz="2573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         🗐 Documents</a:t>
            </a:r>
          </a:p>
          <a:p>
            <a:pPr algn="just">
              <a:lnSpc>
                <a:spcPts val="3602"/>
              </a:lnSpc>
            </a:pPr>
            <a:r>
              <a:rPr lang="en-US" sz="2573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              “695a93315bf9592ba2af22e7" </a:t>
            </a:r>
          </a:p>
          <a:p>
            <a:pPr algn="just">
              <a:lnSpc>
                <a:spcPts val="3602"/>
              </a:lnSpc>
            </a:pPr>
            <a:r>
              <a:rPr lang="en-US" sz="2573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________________________________________________</a:t>
            </a:r>
          </a:p>
          <a:p>
            <a:pPr algn="just">
              <a:lnSpc>
                <a:spcPts val="3602"/>
              </a:lnSpc>
            </a:pPr>
            <a:r>
              <a:rPr lang="en-US" sz="2573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{"_id": {</a:t>
            </a:r>
          </a:p>
          <a:p>
            <a:pPr algn="just">
              <a:lnSpc>
                <a:spcPts val="3602"/>
              </a:lnSpc>
            </a:pPr>
            <a:r>
              <a:rPr lang="en-US" sz="2573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"$oid": "695a93315bf9592ba2af22e7"</a:t>
            </a:r>
          </a:p>
          <a:p>
            <a:pPr algn="just">
              <a:lnSpc>
                <a:spcPts val="3602"/>
              </a:lnSpc>
            </a:pPr>
            <a:r>
              <a:rPr lang="en-US" sz="2573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 },</a:t>
            </a:r>
          </a:p>
          <a:p>
            <a:pPr algn="just">
              <a:lnSpc>
                <a:spcPts val="3602"/>
              </a:lnSpc>
            </a:pPr>
            <a:r>
              <a:rPr lang="en-US" sz="2573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"camera_id": "cam_08",</a:t>
            </a:r>
          </a:p>
          <a:p>
            <a:pPr algn="just">
              <a:lnSpc>
                <a:spcPts val="3602"/>
              </a:lnSpc>
            </a:pPr>
            <a:r>
              <a:rPr lang="en-US" sz="2573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"timestamp": "2026-01-04T16:19:24.890910",</a:t>
            </a:r>
          </a:p>
          <a:p>
            <a:pPr algn="just">
              <a:lnSpc>
                <a:spcPts val="3602"/>
              </a:lnSpc>
            </a:pPr>
            <a:r>
              <a:rPr lang="en-US" sz="2573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 "traffic_status": "NORMAL",</a:t>
            </a:r>
          </a:p>
          <a:p>
            <a:pPr algn="just">
              <a:lnSpc>
                <a:spcPts val="3602"/>
              </a:lnSpc>
            </a:pPr>
            <a:r>
              <a:rPr lang="en-US" sz="2573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 "density": 0.17829999327659607,</a:t>
            </a:r>
          </a:p>
          <a:p>
            <a:pPr algn="just">
              <a:lnSpc>
                <a:spcPts val="3602"/>
              </a:lnSpc>
            </a:pPr>
            <a:r>
              <a:rPr lang="en-US" sz="2573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 "alert_message": null,</a:t>
            </a:r>
          </a:p>
          <a:p>
            <a:pPr algn="just">
              <a:lnSpc>
                <a:spcPts val="3602"/>
              </a:lnSpc>
            </a:pPr>
            <a:r>
              <a:rPr lang="en-US" sz="2573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 "count_motorbike": 15,  "count_car": 1,</a:t>
            </a:r>
          </a:p>
          <a:p>
            <a:pPr algn="just">
              <a:lnSpc>
                <a:spcPts val="3602"/>
              </a:lnSpc>
            </a:pPr>
            <a:r>
              <a:rPr lang="en-US" sz="2573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 "count_bus": 1,  "count_container": 0,</a:t>
            </a:r>
          </a:p>
          <a:p>
            <a:pPr algn="just">
              <a:lnSpc>
                <a:spcPts val="3602"/>
              </a:lnSpc>
            </a:pPr>
            <a:r>
              <a:rPr lang="en-US" sz="2573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 "speed_motorbike": 0,  "speed_car": 0,</a:t>
            </a:r>
          </a:p>
          <a:p>
            <a:pPr algn="just">
              <a:lnSpc>
                <a:spcPts val="3602"/>
              </a:lnSpc>
            </a:pPr>
            <a:r>
              <a:rPr lang="en-US" sz="2573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 "speed_bus": 0,  "speed_container": 0}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1833892"/>
            <a:ext cx="8602210" cy="7496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700" indent="-323850" lvl="1">
              <a:lnSpc>
                <a:spcPts val="7500"/>
              </a:lnSpc>
              <a:buFont typeface="Arial"/>
              <a:buChar char="•"/>
            </a:pP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Aggregates vehicle counts by classifying object IDs p</a:t>
            </a: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e</a:t>
            </a: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r frame.</a:t>
            </a:r>
          </a:p>
          <a:p>
            <a:pPr algn="just" marL="647700" indent="-323850" lvl="1">
              <a:lnSpc>
                <a:spcPts val="7500"/>
              </a:lnSpc>
              <a:buFont typeface="Arial"/>
              <a:buChar char="•"/>
            </a:pP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 Computes density ratio using total vehicle bounding box area. </a:t>
            </a:r>
          </a:p>
          <a:p>
            <a:pPr algn="just" marL="647700" indent="-323850" lvl="1">
              <a:lnSpc>
                <a:spcPts val="7500"/>
              </a:lnSpc>
              <a:buFont typeface="Arial"/>
              <a:buChar char="•"/>
            </a:pP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Estim</a:t>
            </a: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ates avera</a:t>
            </a: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ge speed based on</a:t>
            </a: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 object displacement</a:t>
            </a: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 over tim</a:t>
            </a: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e.</a:t>
            </a:r>
          </a:p>
          <a:p>
            <a:pPr algn="just" marL="647700" indent="-323850" lvl="1">
              <a:lnSpc>
                <a:spcPts val="7500"/>
              </a:lnSpc>
              <a:buFont typeface="Arial"/>
              <a:buChar char="•"/>
            </a:pP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Determines t</a:t>
            </a: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r</a:t>
            </a: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aff</a:t>
            </a: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ic st</a:t>
            </a: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atus</a:t>
            </a: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 by applying thresholds t</a:t>
            </a: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o c</a:t>
            </a: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alcul</a:t>
            </a: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ate</a:t>
            </a: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d</a:t>
            </a: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 density.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199787" y="3724557"/>
            <a:ext cx="5888425" cy="2837887"/>
            <a:chOff x="0" y="0"/>
            <a:chExt cx="7851233" cy="378384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851233" cy="3783849"/>
            </a:xfrm>
            <a:custGeom>
              <a:avLst/>
              <a:gdLst/>
              <a:ahLst/>
              <a:cxnLst/>
              <a:rect r="r" b="b" t="t" l="l"/>
              <a:pathLst>
                <a:path h="3783849" w="7851233">
                  <a:moveTo>
                    <a:pt x="0" y="0"/>
                  </a:moveTo>
                  <a:lnTo>
                    <a:pt x="7851233" y="0"/>
                  </a:lnTo>
                  <a:lnTo>
                    <a:pt x="7851233" y="3783849"/>
                  </a:lnTo>
                  <a:lnTo>
                    <a:pt x="0" y="378384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76200"/>
              <a:ext cx="7851233" cy="3707649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600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IV. BATCH PROCESSING LAYER 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9062" y="67970"/>
            <a:ext cx="18049875" cy="1002632"/>
            <a:chOff x="0" y="0"/>
            <a:chExt cx="24066500" cy="133684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066500" cy="1336843"/>
            </a:xfrm>
            <a:custGeom>
              <a:avLst/>
              <a:gdLst/>
              <a:ahLst/>
              <a:cxnLst/>
              <a:rect r="r" b="b" t="t" l="l"/>
              <a:pathLst>
                <a:path h="1336843" w="24066500">
                  <a:moveTo>
                    <a:pt x="0" y="0"/>
                  </a:moveTo>
                  <a:lnTo>
                    <a:pt x="24066500" y="0"/>
                  </a:lnTo>
                  <a:lnTo>
                    <a:pt x="24066500" y="1336843"/>
                  </a:lnTo>
                  <a:lnTo>
                    <a:pt x="0" y="133684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57150"/>
              <a:ext cx="24066500" cy="127969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500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IV. BATCH PROCESSING LAYER 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531726" y="1261072"/>
            <a:ext cx="13776554" cy="590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1. Batch Processing - Model Training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1833892"/>
            <a:ext cx="16230600" cy="5591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700" indent="-323850" lvl="1">
              <a:lnSpc>
                <a:spcPts val="7500"/>
              </a:lnSpc>
              <a:buFont typeface="Arial"/>
              <a:buChar char="•"/>
            </a:pP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Deployment: Kubernetes Deployment executing a Spark-based Dispatcher service with "Always" restart policy. </a:t>
            </a:r>
          </a:p>
          <a:p>
            <a:pPr algn="just" marL="647700" indent="-323850" lvl="1">
              <a:lnSpc>
                <a:spcPts val="7500"/>
              </a:lnSpc>
              <a:buFont typeface="Arial"/>
              <a:buChar char="•"/>
            </a:pP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Res</a:t>
            </a: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ource Management: Requests 4Gi RAM / 1 vCPU; limits up to 8Gi RAM / 2 vCPU. </a:t>
            </a:r>
          </a:p>
          <a:p>
            <a:pPr algn="just" marL="647700" indent="-323850" lvl="1">
              <a:lnSpc>
                <a:spcPts val="7500"/>
              </a:lnSpc>
              <a:buFont typeface="Arial"/>
              <a:buChar char="•"/>
            </a:pP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Ex</a:t>
            </a: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ecution Engine: Spark configured in local[*] mode (uses all available cores in the pod).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9062" y="67970"/>
            <a:ext cx="18049875" cy="1002632"/>
            <a:chOff x="0" y="0"/>
            <a:chExt cx="24066500" cy="133684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066500" cy="1336843"/>
            </a:xfrm>
            <a:custGeom>
              <a:avLst/>
              <a:gdLst/>
              <a:ahLst/>
              <a:cxnLst/>
              <a:rect r="r" b="b" t="t" l="l"/>
              <a:pathLst>
                <a:path h="1336843" w="24066500">
                  <a:moveTo>
                    <a:pt x="0" y="0"/>
                  </a:moveTo>
                  <a:lnTo>
                    <a:pt x="24066500" y="0"/>
                  </a:lnTo>
                  <a:lnTo>
                    <a:pt x="24066500" y="1336843"/>
                  </a:lnTo>
                  <a:lnTo>
                    <a:pt x="0" y="133684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57150"/>
              <a:ext cx="24066500" cy="127969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500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IV. BATCH PROCESSING LAYER 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531726" y="1261072"/>
            <a:ext cx="13776554" cy="590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1. Batch Processing - Model Training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1833892"/>
            <a:ext cx="16230600" cy="5591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700" indent="-323850" lvl="1">
              <a:lnSpc>
                <a:spcPts val="7500"/>
              </a:lnSpc>
              <a:buFont typeface="Arial"/>
              <a:buChar char="•"/>
            </a:pP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Int</a:t>
            </a: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egration Str</a:t>
            </a: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ateg</a:t>
            </a: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y</a:t>
            </a: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:</a:t>
            </a:r>
          </a:p>
          <a:p>
            <a:pPr algn="just" marL="1295400" indent="-431800" lvl="2">
              <a:lnSpc>
                <a:spcPts val="7500"/>
              </a:lnSpc>
              <a:buFont typeface="Arial"/>
              <a:buChar char="⚬"/>
            </a:pP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Ingestion</a:t>
            </a: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:</a:t>
            </a: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 Consumes</a:t>
            </a: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 raw traffic</a:t>
            </a: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 data </a:t>
            </a: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fr</a:t>
            </a: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om Kafka (traffic_data</a:t>
            </a: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 topic).</a:t>
            </a:r>
          </a:p>
          <a:p>
            <a:pPr algn="just" marL="1295400" indent="-431800" lvl="2">
              <a:lnSpc>
                <a:spcPts val="7500"/>
              </a:lnSpc>
              <a:buFont typeface="Arial"/>
              <a:buChar char="⚬"/>
            </a:pP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Processing: Prepares training data and coordinates logic via dispatcher_main.py.</a:t>
            </a:r>
          </a:p>
          <a:p>
            <a:pPr algn="just" marL="1295400" indent="-431800" lvl="2">
              <a:lnSpc>
                <a:spcPts val="7500"/>
              </a:lnSpc>
              <a:buFont typeface="Arial"/>
              <a:buChar char="⚬"/>
            </a:pP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Sink: Pushes training tasks to Kafka (training_jobs) for workers and interacts with</a:t>
            </a: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 MinIO for storage.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9062" y="67970"/>
            <a:ext cx="18049875" cy="1002632"/>
            <a:chOff x="0" y="0"/>
            <a:chExt cx="24066500" cy="133684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066500" cy="1336843"/>
            </a:xfrm>
            <a:custGeom>
              <a:avLst/>
              <a:gdLst/>
              <a:ahLst/>
              <a:cxnLst/>
              <a:rect r="r" b="b" t="t" l="l"/>
              <a:pathLst>
                <a:path h="1336843" w="24066500">
                  <a:moveTo>
                    <a:pt x="0" y="0"/>
                  </a:moveTo>
                  <a:lnTo>
                    <a:pt x="24066500" y="0"/>
                  </a:lnTo>
                  <a:lnTo>
                    <a:pt x="24066500" y="1336843"/>
                  </a:lnTo>
                  <a:lnTo>
                    <a:pt x="0" y="133684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57150"/>
              <a:ext cx="24066500" cy="127969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500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IV. BATCH PROCESSING LAYER 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531726" y="1261072"/>
            <a:ext cx="14323214" cy="590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1. Batch Processing - Model Training (CPU Training)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1833892"/>
            <a:ext cx="16230600" cy="7496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700" indent="-323850" lvl="1">
              <a:lnSpc>
                <a:spcPts val="7500"/>
              </a:lnSpc>
              <a:buFont typeface="Arial"/>
              <a:buChar char="•"/>
            </a:pPr>
            <a:r>
              <a:rPr lang="en-US" b="true" sz="3000" i="true" spc="150">
                <a:solidFill>
                  <a:srgbClr val="000000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Architecture</a:t>
            </a:r>
          </a:p>
          <a:p>
            <a:pPr algn="just" marL="1295400" indent="-431800" lvl="2">
              <a:lnSpc>
                <a:spcPts val="7500"/>
              </a:lnSpc>
              <a:buFont typeface="Arial"/>
              <a:buChar char="⚬"/>
            </a:pP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Single Spark batch training job running on Kubernetes</a:t>
            </a:r>
          </a:p>
          <a:p>
            <a:pPr algn="just" marL="1295400" indent="-431800" lvl="2">
              <a:lnSpc>
                <a:spcPts val="7500"/>
              </a:lnSpc>
              <a:buFont typeface="Arial"/>
              <a:buChar char="⚬"/>
            </a:pP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Spark handles both data proc</a:t>
            </a: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essing and m</a:t>
            </a: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odel training</a:t>
            </a:r>
          </a:p>
          <a:p>
            <a:pPr algn="just" marL="647700" indent="-323850" lvl="1">
              <a:lnSpc>
                <a:spcPts val="7500"/>
              </a:lnSpc>
              <a:buFont typeface="Arial"/>
              <a:buChar char="•"/>
            </a:pPr>
            <a:r>
              <a:rPr lang="en-US" b="true" sz="3000" i="true" spc="150">
                <a:solidFill>
                  <a:srgbClr val="000000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Data Flow: </a:t>
            </a: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MinIO (LMDB) → Producer → Kafka (traffic_data)</a:t>
            </a:r>
          </a:p>
          <a:p>
            <a:pPr algn="just" marL="647700" indent="-323850" lvl="1">
              <a:lnSpc>
                <a:spcPts val="7500"/>
              </a:lnSpc>
              <a:buFont typeface="Arial"/>
              <a:buChar char="•"/>
            </a:pPr>
            <a:r>
              <a:rPr lang="en-US" b="true" sz="3000" i="true" spc="150">
                <a:solidFill>
                  <a:srgbClr val="000000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Traini</a:t>
            </a:r>
            <a:r>
              <a:rPr lang="en-US" b="true" sz="3000" i="true" spc="150">
                <a:solidFill>
                  <a:srgbClr val="000000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ng Ex</a:t>
            </a:r>
            <a:r>
              <a:rPr lang="en-US" b="true" sz="3000" i="true" spc="150">
                <a:solidFill>
                  <a:srgbClr val="000000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ecution: </a:t>
            </a: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CPU</a:t>
            </a: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 training,</a:t>
            </a: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 batch size small due to memory.</a:t>
            </a:r>
          </a:p>
          <a:p>
            <a:pPr algn="just" marL="647700" indent="-323850" lvl="1">
              <a:lnSpc>
                <a:spcPts val="7500"/>
              </a:lnSpc>
              <a:buFont typeface="Arial"/>
              <a:buChar char="•"/>
            </a:pPr>
            <a:r>
              <a:rPr lang="en-US" b="true" sz="3000" i="true" spc="150">
                <a:solidFill>
                  <a:srgbClr val="000000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Checkpo</a:t>
            </a:r>
            <a:r>
              <a:rPr lang="en-US" b="true" sz="3000" i="true" spc="150">
                <a:solidFill>
                  <a:srgbClr val="000000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inting &amp; Output</a:t>
            </a:r>
          </a:p>
          <a:p>
            <a:pPr algn="just" marL="1295400" indent="-431800" lvl="2">
              <a:lnSpc>
                <a:spcPts val="7500"/>
              </a:lnSpc>
              <a:buFont typeface="Arial"/>
              <a:buChar char="⚬"/>
            </a:pP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Uploads model weights and logs after j</a:t>
            </a: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ob completion</a:t>
            </a:r>
          </a:p>
          <a:p>
            <a:pPr algn="just" marL="1295400" indent="-431800" lvl="2">
              <a:lnSpc>
                <a:spcPts val="7500"/>
              </a:lnSpc>
              <a:buFont typeface="Arial"/>
              <a:buChar char="⚬"/>
            </a:pP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Job is manually triggered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9062" y="67970"/>
            <a:ext cx="18049875" cy="1002632"/>
            <a:chOff x="0" y="0"/>
            <a:chExt cx="24066500" cy="133684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066500" cy="1336843"/>
            </a:xfrm>
            <a:custGeom>
              <a:avLst/>
              <a:gdLst/>
              <a:ahLst/>
              <a:cxnLst/>
              <a:rect r="r" b="b" t="t" l="l"/>
              <a:pathLst>
                <a:path h="1336843" w="24066500">
                  <a:moveTo>
                    <a:pt x="0" y="0"/>
                  </a:moveTo>
                  <a:lnTo>
                    <a:pt x="24066500" y="0"/>
                  </a:lnTo>
                  <a:lnTo>
                    <a:pt x="24066500" y="1336843"/>
                  </a:lnTo>
                  <a:lnTo>
                    <a:pt x="0" y="133684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57150"/>
              <a:ext cx="24066500" cy="127969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500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IV. BATCH PROCESSING LAYER 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531726" y="1261072"/>
            <a:ext cx="14323214" cy="590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1. Batch Processing - Model Training (GPU Training)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1833892"/>
            <a:ext cx="16230600" cy="6543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700" indent="-323850" lvl="1">
              <a:lnSpc>
                <a:spcPts val="7500"/>
              </a:lnSpc>
              <a:buFont typeface="Arial"/>
              <a:buChar char="•"/>
            </a:pPr>
            <a:r>
              <a:rPr lang="en-US" b="true" sz="3000" i="true" spc="150">
                <a:solidFill>
                  <a:srgbClr val="000000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Architecture</a:t>
            </a:r>
          </a:p>
          <a:p>
            <a:pPr algn="just" marL="1295400" indent="-431800" lvl="2">
              <a:lnSpc>
                <a:spcPts val="7500"/>
              </a:lnSpc>
              <a:buFont typeface="Arial"/>
              <a:buChar char="⚬"/>
            </a:pP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Decoup</a:t>
            </a: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led system: Producer → Dispatcher → GPU Worker</a:t>
            </a:r>
          </a:p>
          <a:p>
            <a:pPr algn="just" marL="1295400" indent="-431800" lvl="2">
              <a:lnSpc>
                <a:spcPts val="7500"/>
              </a:lnSpc>
              <a:buFont typeface="Arial"/>
              <a:buChar char="⚬"/>
            </a:pP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Spark used as job orchestrator,</a:t>
            </a: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 n</a:t>
            </a: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ot trainer</a:t>
            </a:r>
          </a:p>
          <a:p>
            <a:pPr algn="just" marL="647700" indent="-323850" lvl="1">
              <a:lnSpc>
                <a:spcPts val="7500"/>
              </a:lnSpc>
              <a:buFont typeface="Arial"/>
              <a:buChar char="•"/>
            </a:pPr>
            <a:r>
              <a:rPr lang="en-US" b="true" sz="3000" i="true" spc="150">
                <a:solidFill>
                  <a:srgbClr val="000000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Data Flow</a:t>
            </a:r>
          </a:p>
          <a:p>
            <a:pPr algn="just" marL="1295400" indent="-431800" lvl="2">
              <a:lnSpc>
                <a:spcPts val="7500"/>
              </a:lnSpc>
              <a:buFont typeface="Arial"/>
              <a:buChar char="⚬"/>
            </a:pP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MinIO (LMDB) → Producer → Kafka (traffic_data)</a:t>
            </a:r>
          </a:p>
          <a:p>
            <a:pPr algn="just" marL="1295400" indent="-431800" lvl="2">
              <a:lnSpc>
                <a:spcPts val="7500"/>
              </a:lnSpc>
              <a:buFont typeface="Arial"/>
              <a:buChar char="⚬"/>
            </a:pP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Training</a:t>
            </a: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 jobs published to Kafka (training_jobs)</a:t>
            </a:r>
          </a:p>
          <a:p>
            <a:pPr algn="just" marL="647700" indent="-323850" lvl="1">
              <a:lnSpc>
                <a:spcPts val="7500"/>
              </a:lnSpc>
              <a:buFont typeface="Arial"/>
              <a:buChar char="•"/>
            </a:pPr>
            <a:r>
              <a:rPr lang="en-US" b="true" sz="3000" i="true" spc="150">
                <a:solidFill>
                  <a:srgbClr val="000000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Checkpo</a:t>
            </a:r>
            <a:r>
              <a:rPr lang="en-US" b="true" sz="3000" i="true" spc="150">
                <a:solidFill>
                  <a:srgbClr val="000000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inting &amp; Output: </a:t>
            </a: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E</a:t>
            </a: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nables incremental and continuous training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9062" y="67970"/>
            <a:ext cx="18049875" cy="1002632"/>
            <a:chOff x="0" y="0"/>
            <a:chExt cx="24066500" cy="133684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066500" cy="1336843"/>
            </a:xfrm>
            <a:custGeom>
              <a:avLst/>
              <a:gdLst/>
              <a:ahLst/>
              <a:cxnLst/>
              <a:rect r="r" b="b" t="t" l="l"/>
              <a:pathLst>
                <a:path h="1336843" w="24066500">
                  <a:moveTo>
                    <a:pt x="0" y="0"/>
                  </a:moveTo>
                  <a:lnTo>
                    <a:pt x="24066500" y="0"/>
                  </a:lnTo>
                  <a:lnTo>
                    <a:pt x="24066500" y="1336843"/>
                  </a:lnTo>
                  <a:lnTo>
                    <a:pt x="0" y="133684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57150"/>
              <a:ext cx="24066500" cy="127969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500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IV. BATCH PROCESSING LAYER </a:t>
              </a: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2373803" y="2149593"/>
            <a:ext cx="13540395" cy="7108707"/>
          </a:xfrm>
          <a:custGeom>
            <a:avLst/>
            <a:gdLst/>
            <a:ahLst/>
            <a:cxnLst/>
            <a:rect r="r" b="b" t="t" l="l"/>
            <a:pathLst>
              <a:path h="7108707" w="13540395">
                <a:moveTo>
                  <a:pt x="0" y="0"/>
                </a:moveTo>
                <a:lnTo>
                  <a:pt x="13540394" y="0"/>
                </a:lnTo>
                <a:lnTo>
                  <a:pt x="13540394" y="7108707"/>
                </a:lnTo>
                <a:lnTo>
                  <a:pt x="0" y="71087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31726" y="1261072"/>
            <a:ext cx="13776554" cy="590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1. Batch Processing - Model Training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9062" y="67970"/>
            <a:ext cx="18049875" cy="1002632"/>
            <a:chOff x="0" y="0"/>
            <a:chExt cx="24066500" cy="133684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066500" cy="1336843"/>
            </a:xfrm>
            <a:custGeom>
              <a:avLst/>
              <a:gdLst/>
              <a:ahLst/>
              <a:cxnLst/>
              <a:rect r="r" b="b" t="t" l="l"/>
              <a:pathLst>
                <a:path h="1336843" w="24066500">
                  <a:moveTo>
                    <a:pt x="0" y="0"/>
                  </a:moveTo>
                  <a:lnTo>
                    <a:pt x="24066500" y="0"/>
                  </a:lnTo>
                  <a:lnTo>
                    <a:pt x="24066500" y="1336843"/>
                  </a:lnTo>
                  <a:lnTo>
                    <a:pt x="0" y="133684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57150"/>
              <a:ext cx="24066500" cy="127969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500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IV. BATCH PROCESSING LAYER 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531726" y="1261072"/>
            <a:ext cx="13776554" cy="590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2. Batch Processing - Metric Computing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1833892"/>
            <a:ext cx="16230600" cy="5591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700" indent="-323850" lvl="1">
              <a:lnSpc>
                <a:spcPts val="7500"/>
              </a:lnSpc>
              <a:buFont typeface="Arial"/>
              <a:buChar char="•"/>
            </a:pP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Deployment: Kubernetes Job executing a Spark submit task with "Never" restart policy. </a:t>
            </a:r>
          </a:p>
          <a:p>
            <a:pPr algn="just" marL="647700" indent="-323850" lvl="1">
              <a:lnSpc>
                <a:spcPts val="7500"/>
              </a:lnSpc>
              <a:buFont typeface="Arial"/>
              <a:buChar char="•"/>
            </a:pP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Res</a:t>
            </a: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ource Management: Driver pod requests 1Gi RAM / 0.5 vCPU;</a:t>
            </a:r>
          </a:p>
          <a:p>
            <a:pPr algn="just" marL="647700" indent="-323850" lvl="1">
              <a:lnSpc>
                <a:spcPts val="7500"/>
              </a:lnSpc>
              <a:buFont typeface="Arial"/>
              <a:buChar char="•"/>
            </a:pP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Executors run on Spark Workers (1 core, 512MB RAM per instance). </a:t>
            </a:r>
          </a:p>
          <a:p>
            <a:pPr algn="just" marL="647700" indent="-323850" lvl="1">
              <a:lnSpc>
                <a:spcPts val="7500"/>
              </a:lnSpc>
              <a:buFont typeface="Arial"/>
              <a:buChar char="•"/>
            </a:pP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Ex</a:t>
            </a: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ecution Engine: Spark configured in Standalone Cluster mode (target: spark://spark-master:7077) using Client deploy mode. 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9062" y="67970"/>
            <a:ext cx="18049875" cy="1002632"/>
            <a:chOff x="0" y="0"/>
            <a:chExt cx="24066500" cy="133684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066500" cy="1336843"/>
            </a:xfrm>
            <a:custGeom>
              <a:avLst/>
              <a:gdLst/>
              <a:ahLst/>
              <a:cxnLst/>
              <a:rect r="r" b="b" t="t" l="l"/>
              <a:pathLst>
                <a:path h="1336843" w="24066500">
                  <a:moveTo>
                    <a:pt x="0" y="0"/>
                  </a:moveTo>
                  <a:lnTo>
                    <a:pt x="24066500" y="0"/>
                  </a:lnTo>
                  <a:lnTo>
                    <a:pt x="24066500" y="1336843"/>
                  </a:lnTo>
                  <a:lnTo>
                    <a:pt x="0" y="133684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57150"/>
              <a:ext cx="24066500" cy="127969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500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IV. BATCH PROCESSING LAYER 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531726" y="1261072"/>
            <a:ext cx="13776554" cy="590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2. Batch Processing - Metric Computing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1833892"/>
            <a:ext cx="16230600" cy="6543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700" indent="-323850" lvl="1">
              <a:lnSpc>
                <a:spcPts val="7500"/>
              </a:lnSpc>
              <a:buFont typeface="Arial"/>
              <a:buChar char="•"/>
            </a:pP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Int</a:t>
            </a: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egration Str</a:t>
            </a: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ateg</a:t>
            </a: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y</a:t>
            </a: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:</a:t>
            </a:r>
          </a:p>
          <a:p>
            <a:pPr algn="just" marL="1295400" indent="-431800" lvl="2">
              <a:lnSpc>
                <a:spcPts val="7500"/>
              </a:lnSpc>
              <a:buFont typeface="Arial"/>
              <a:buChar char="⚬"/>
            </a:pP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Ingestion</a:t>
            </a: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:</a:t>
            </a: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 Consumes</a:t>
            </a: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 streaming/batch traffic</a:t>
            </a: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 data from Kafka (tra</a:t>
            </a: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ffic_data topic).</a:t>
            </a:r>
          </a:p>
          <a:p>
            <a:pPr algn="just" marL="1295400" indent="-431800" lvl="2">
              <a:lnSpc>
                <a:spcPts val="7500"/>
              </a:lnSpc>
              <a:buFont typeface="Arial"/>
              <a:buChar char="⚬"/>
            </a:pP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Logic: Performs object detection (YOLOv8) with</a:t>
            </a: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 models dynamically loaded from MinIO</a:t>
            </a: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.</a:t>
            </a:r>
          </a:p>
          <a:p>
            <a:pPr algn="just" marL="1295400" indent="-431800" lvl="2">
              <a:lnSpc>
                <a:spcPts val="7500"/>
              </a:lnSpc>
              <a:buFont typeface="Arial"/>
              <a:buChar char="⚬"/>
            </a:pP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Sink: Persists computed metrics into MongoDB and retrieves configuration assets fr</a:t>
            </a: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om MinIO.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9062" y="67970"/>
            <a:ext cx="18049875" cy="1002632"/>
            <a:chOff x="0" y="0"/>
            <a:chExt cx="24066500" cy="133684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066500" cy="1336843"/>
            </a:xfrm>
            <a:custGeom>
              <a:avLst/>
              <a:gdLst/>
              <a:ahLst/>
              <a:cxnLst/>
              <a:rect r="r" b="b" t="t" l="l"/>
              <a:pathLst>
                <a:path h="1336843" w="24066500">
                  <a:moveTo>
                    <a:pt x="0" y="0"/>
                  </a:moveTo>
                  <a:lnTo>
                    <a:pt x="24066500" y="0"/>
                  </a:lnTo>
                  <a:lnTo>
                    <a:pt x="24066500" y="1336843"/>
                  </a:lnTo>
                  <a:lnTo>
                    <a:pt x="0" y="133684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57150"/>
              <a:ext cx="24066500" cy="127969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500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IV. BATCH PROCESSING LAYER 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531726" y="1908772"/>
            <a:ext cx="13776554" cy="542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5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2. 2. Output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082224" y="1903151"/>
            <a:ext cx="7912776" cy="7355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02"/>
              </a:lnSpc>
            </a:pPr>
            <a:r>
              <a:rPr lang="en-US" sz="2573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🛢 traffic_db</a:t>
            </a:r>
          </a:p>
          <a:p>
            <a:pPr algn="just">
              <a:lnSpc>
                <a:spcPts val="3602"/>
              </a:lnSpc>
            </a:pPr>
            <a:r>
              <a:rPr lang="en-US" sz="2573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    📂traffic_daily_summary</a:t>
            </a:r>
          </a:p>
          <a:p>
            <a:pPr algn="just">
              <a:lnSpc>
                <a:spcPts val="3602"/>
              </a:lnSpc>
            </a:pPr>
            <a:r>
              <a:rPr lang="en-US" sz="2573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         🗐 Documents</a:t>
            </a:r>
          </a:p>
          <a:p>
            <a:pPr algn="just">
              <a:lnSpc>
                <a:spcPts val="3602"/>
              </a:lnSpc>
            </a:pPr>
            <a:r>
              <a:rPr lang="en-US" sz="2573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              “695abb670c963501e2acee26" </a:t>
            </a:r>
          </a:p>
          <a:p>
            <a:pPr algn="just">
              <a:lnSpc>
                <a:spcPts val="3602"/>
              </a:lnSpc>
            </a:pPr>
            <a:r>
              <a:rPr lang="en-US" sz="2573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________________________________________________{ "_id": {</a:t>
            </a:r>
          </a:p>
          <a:p>
            <a:pPr algn="just">
              <a:lnSpc>
                <a:spcPts val="3602"/>
              </a:lnSpc>
            </a:pPr>
            <a:r>
              <a:rPr lang="en-US" sz="2573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 "$oid": "695abb670c963501e2acee26"</a:t>
            </a:r>
          </a:p>
          <a:p>
            <a:pPr algn="just">
              <a:lnSpc>
                <a:spcPts val="3602"/>
              </a:lnSpc>
            </a:pPr>
            <a:r>
              <a:rPr lang="en-US" sz="2573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 },</a:t>
            </a:r>
          </a:p>
          <a:p>
            <a:pPr algn="just">
              <a:lnSpc>
                <a:spcPts val="3602"/>
              </a:lnSpc>
            </a:pPr>
            <a:r>
              <a:rPr lang="en-US" sz="2573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 "date": {</a:t>
            </a:r>
          </a:p>
          <a:p>
            <a:pPr algn="just">
              <a:lnSpc>
                <a:spcPts val="3602"/>
              </a:lnSpc>
            </a:pPr>
            <a:r>
              <a:rPr lang="en-US" sz="2573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 "$date": "2026-01-04T00:00:00Z"</a:t>
            </a:r>
          </a:p>
          <a:p>
            <a:pPr algn="just">
              <a:lnSpc>
                <a:spcPts val="3602"/>
              </a:lnSpc>
            </a:pPr>
            <a:r>
              <a:rPr lang="en-US" sz="2573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 },</a:t>
            </a:r>
          </a:p>
          <a:p>
            <a:pPr algn="just">
              <a:lnSpc>
                <a:spcPts val="3602"/>
              </a:lnSpc>
            </a:pPr>
            <a:r>
              <a:rPr lang="en-US" sz="2573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 "camera_id": "cam_01",</a:t>
            </a:r>
          </a:p>
          <a:p>
            <a:pPr algn="just">
              <a:lnSpc>
                <a:spcPts val="3602"/>
              </a:lnSpc>
            </a:pPr>
            <a:r>
              <a:rPr lang="en-US" sz="2573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 "total_vehicles_all_types": 321,</a:t>
            </a:r>
          </a:p>
          <a:p>
            <a:pPr algn="just">
              <a:lnSpc>
                <a:spcPts val="3602"/>
              </a:lnSpc>
            </a:pPr>
            <a:r>
              <a:rPr lang="en-US" sz="2573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 "avg_speed_day": 3.1079502611110357,</a:t>
            </a:r>
          </a:p>
          <a:p>
            <a:pPr algn="just">
              <a:lnSpc>
                <a:spcPts val="3602"/>
              </a:lnSpc>
            </a:pPr>
            <a:r>
              <a:rPr lang="en-US" sz="2573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 "peak_hour": 16.613055555557366,</a:t>
            </a:r>
          </a:p>
          <a:p>
            <a:pPr algn="just">
              <a:lnSpc>
                <a:spcPts val="3602"/>
              </a:lnSpc>
            </a:pPr>
            <a:r>
              <a:rPr lang="en-US" sz="2573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 "congestion_hours": 0.005}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2080289"/>
            <a:ext cx="9053524" cy="7496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700" indent="-323850" lvl="1">
              <a:lnSpc>
                <a:spcPts val="7500"/>
              </a:lnSpc>
              <a:buFont typeface="Arial"/>
              <a:buChar char="•"/>
            </a:pP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Aggregates total daily vehicle volume across all distinct tracks.</a:t>
            </a:r>
          </a:p>
          <a:p>
            <a:pPr algn="just" marL="647700" indent="-323850" lvl="1">
              <a:lnSpc>
                <a:spcPts val="7500"/>
              </a:lnSpc>
              <a:buFont typeface="Arial"/>
              <a:buChar char="•"/>
            </a:pP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Identifies peak traffic hours based on maximum density occurrences.</a:t>
            </a:r>
          </a:p>
          <a:p>
            <a:pPr algn="just" marL="647700" indent="-323850" lvl="1">
              <a:lnSpc>
                <a:spcPts val="7500"/>
              </a:lnSpc>
              <a:buFont typeface="Arial"/>
              <a:buChar char="•"/>
            </a:pP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Calc</a:t>
            </a: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ula</a:t>
            </a: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tes total duration</a:t>
            </a: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 of cong</a:t>
            </a: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estion through</a:t>
            </a: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out the day.</a:t>
            </a:r>
          </a:p>
          <a:p>
            <a:pPr algn="just" marL="647700" indent="-323850" lvl="1">
              <a:lnSpc>
                <a:spcPts val="7500"/>
              </a:lnSpc>
              <a:buFont typeface="Arial"/>
              <a:buChar char="•"/>
            </a:pP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Comput</a:t>
            </a: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es overall average</a:t>
            </a: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 speed for daily perf</a:t>
            </a: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ormance benchmarking.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31726" y="1261072"/>
            <a:ext cx="13776554" cy="590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2. Batch Processing - Metric Computing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9062" y="67970"/>
            <a:ext cx="18049875" cy="1002632"/>
            <a:chOff x="0" y="0"/>
            <a:chExt cx="24066500" cy="133684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066500" cy="1336843"/>
            </a:xfrm>
            <a:custGeom>
              <a:avLst/>
              <a:gdLst/>
              <a:ahLst/>
              <a:cxnLst/>
              <a:rect r="r" b="b" t="t" l="l"/>
              <a:pathLst>
                <a:path h="1336843" w="24066500">
                  <a:moveTo>
                    <a:pt x="0" y="0"/>
                  </a:moveTo>
                  <a:lnTo>
                    <a:pt x="24066500" y="0"/>
                  </a:lnTo>
                  <a:lnTo>
                    <a:pt x="24066500" y="1336843"/>
                  </a:lnTo>
                  <a:lnTo>
                    <a:pt x="0" y="133684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57150"/>
              <a:ext cx="24066500" cy="127969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500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IV. BATCH PROCESSING LAYER 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531726" y="1261072"/>
            <a:ext cx="13776554" cy="590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2. Batch Processing - Metric Computing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082224" y="1746880"/>
            <a:ext cx="7912776" cy="6897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02"/>
              </a:lnSpc>
            </a:pPr>
            <a:r>
              <a:rPr lang="en-US" sz="2573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🛢 traffic_db</a:t>
            </a:r>
          </a:p>
          <a:p>
            <a:pPr algn="just">
              <a:lnSpc>
                <a:spcPts val="3602"/>
              </a:lnSpc>
            </a:pPr>
            <a:r>
              <a:rPr lang="en-US" sz="2573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    📂traffic_heatmaps</a:t>
            </a:r>
          </a:p>
          <a:p>
            <a:pPr algn="just">
              <a:lnSpc>
                <a:spcPts val="3602"/>
              </a:lnSpc>
            </a:pPr>
            <a:r>
              <a:rPr lang="en-US" sz="2573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         🗐 Documents</a:t>
            </a:r>
          </a:p>
          <a:p>
            <a:pPr algn="just">
              <a:lnSpc>
                <a:spcPts val="3602"/>
              </a:lnSpc>
            </a:pPr>
            <a:r>
              <a:rPr lang="en-US" sz="2573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              “695abb69728b5c8109b6918b" </a:t>
            </a:r>
          </a:p>
          <a:p>
            <a:pPr algn="just">
              <a:lnSpc>
                <a:spcPts val="3602"/>
              </a:lnSpc>
            </a:pPr>
            <a:r>
              <a:rPr lang="en-US" sz="2573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________________________________________________{</a:t>
            </a:r>
          </a:p>
          <a:p>
            <a:pPr algn="just">
              <a:lnSpc>
                <a:spcPts val="3602"/>
              </a:lnSpc>
            </a:pPr>
            <a:r>
              <a:rPr lang="en-US" sz="2573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 "_id": {</a:t>
            </a:r>
          </a:p>
          <a:p>
            <a:pPr algn="just">
              <a:lnSpc>
                <a:spcPts val="3602"/>
              </a:lnSpc>
            </a:pPr>
            <a:r>
              <a:rPr lang="en-US" sz="2573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 "$oid": "695abb69728b5c8109b6918b"</a:t>
            </a:r>
          </a:p>
          <a:p>
            <a:pPr algn="just">
              <a:lnSpc>
                <a:spcPts val="3602"/>
              </a:lnSpc>
            </a:pPr>
            <a:r>
              <a:rPr lang="en-US" sz="2573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 },</a:t>
            </a:r>
          </a:p>
          <a:p>
            <a:pPr algn="just">
              <a:lnSpc>
                <a:spcPts val="3602"/>
              </a:lnSpc>
            </a:pPr>
            <a:r>
              <a:rPr lang="en-US" sz="2573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 "date": "2026-01-04",</a:t>
            </a:r>
          </a:p>
          <a:p>
            <a:pPr algn="just">
              <a:lnSpc>
                <a:spcPts val="3602"/>
              </a:lnSpc>
            </a:pPr>
            <a:r>
              <a:rPr lang="en-US" sz="2573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 "camera_id": "cam_01",</a:t>
            </a:r>
          </a:p>
          <a:p>
            <a:pPr algn="just">
              <a:lnSpc>
                <a:spcPts val="3602"/>
              </a:lnSpc>
            </a:pPr>
            <a:r>
              <a:rPr lang="en-US" sz="2573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"heatmap_url":"http://myminio:9000/configs/reports/heatmaps/cam_01_20260104.png",</a:t>
            </a:r>
          </a:p>
          <a:p>
            <a:pPr algn="just">
              <a:lnSpc>
                <a:spcPts val="3602"/>
              </a:lnSpc>
            </a:pPr>
            <a:r>
              <a:rPr lang="en-US" sz="2573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 "description": "Heatmap"</a:t>
            </a:r>
          </a:p>
          <a:p>
            <a:pPr algn="just">
              <a:lnSpc>
                <a:spcPts val="3602"/>
              </a:lnSpc>
            </a:pPr>
            <a:r>
              <a:rPr lang="en-US" sz="2573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}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2080289"/>
            <a:ext cx="8676754" cy="7496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700" indent="-323850" lvl="1">
              <a:lnSpc>
                <a:spcPts val="7500"/>
              </a:lnSpc>
              <a:buFont typeface="Arial"/>
              <a:buChar char="•"/>
            </a:pP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Aggregates spatial coordinates of all vehicle tracks per day.</a:t>
            </a:r>
          </a:p>
          <a:p>
            <a:pPr algn="just" marL="647700" indent="-323850" lvl="1">
              <a:lnSpc>
                <a:spcPts val="7500"/>
              </a:lnSpc>
              <a:buFont typeface="Arial"/>
              <a:buChar char="•"/>
            </a:pP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G</a:t>
            </a: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enerates 2D visual heatmaps repr</a:t>
            </a: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esenting</a:t>
            </a: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 distribution intensity.</a:t>
            </a:r>
          </a:p>
          <a:p>
            <a:pPr algn="just" marL="647700" indent="-323850" lvl="1">
              <a:lnSpc>
                <a:spcPts val="7500"/>
              </a:lnSpc>
              <a:buFont typeface="Arial"/>
              <a:buChar char="•"/>
            </a:pP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Uploads generated image artifacts to MinIO object storage.</a:t>
            </a:r>
          </a:p>
          <a:p>
            <a:pPr algn="just" marL="647700" indent="-323850" lvl="1">
              <a:lnSpc>
                <a:spcPts val="7500"/>
              </a:lnSpc>
              <a:buFont typeface="Arial"/>
              <a:buChar char="•"/>
            </a:pP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R</a:t>
            </a: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ecords heatmap metadata and fil</a:t>
            </a: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e URLs for</a:t>
            </a: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 dashb</a:t>
            </a: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oa</a:t>
            </a: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rd rendering.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31726" y="1908772"/>
            <a:ext cx="13776554" cy="542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5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2. 2. Output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9062" y="67970"/>
            <a:ext cx="18049875" cy="1002632"/>
            <a:chOff x="0" y="0"/>
            <a:chExt cx="24066500" cy="133684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066500" cy="1336843"/>
            </a:xfrm>
            <a:custGeom>
              <a:avLst/>
              <a:gdLst/>
              <a:ahLst/>
              <a:cxnLst/>
              <a:rect r="r" b="b" t="t" l="l"/>
              <a:pathLst>
                <a:path h="1336843" w="24066500">
                  <a:moveTo>
                    <a:pt x="0" y="0"/>
                  </a:moveTo>
                  <a:lnTo>
                    <a:pt x="24066500" y="0"/>
                  </a:lnTo>
                  <a:lnTo>
                    <a:pt x="24066500" y="1336843"/>
                  </a:lnTo>
                  <a:lnTo>
                    <a:pt x="0" y="133684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57150"/>
              <a:ext cx="24066500" cy="127969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500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IV. BATCH PROCESSING LAYER 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531726" y="1261072"/>
            <a:ext cx="13776554" cy="590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2. Batch Processing - Metric Computing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03108" y="1746880"/>
            <a:ext cx="8384892" cy="78123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02"/>
              </a:lnSpc>
            </a:pPr>
            <a:r>
              <a:rPr lang="en-US" sz="2573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🛢 traffic_db</a:t>
            </a:r>
          </a:p>
          <a:p>
            <a:pPr algn="just">
              <a:lnSpc>
                <a:spcPts val="3602"/>
              </a:lnSpc>
            </a:pPr>
            <a:r>
              <a:rPr lang="en-US" sz="2573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    📂traffic_stats_1min</a:t>
            </a:r>
          </a:p>
          <a:p>
            <a:pPr algn="just">
              <a:lnSpc>
                <a:spcPts val="3602"/>
              </a:lnSpc>
            </a:pPr>
            <a:r>
              <a:rPr lang="en-US" sz="2573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         🗐 Documents</a:t>
            </a:r>
          </a:p>
          <a:p>
            <a:pPr algn="just">
              <a:lnSpc>
                <a:spcPts val="3602"/>
              </a:lnSpc>
            </a:pPr>
            <a:r>
              <a:rPr lang="en-US" sz="2573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              “695abb640c963501e2acecd9" </a:t>
            </a:r>
          </a:p>
          <a:p>
            <a:pPr algn="just">
              <a:lnSpc>
                <a:spcPts val="3602"/>
              </a:lnSpc>
            </a:pPr>
            <a:r>
              <a:rPr lang="en-US" sz="2573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________________________________________________{ "_id": { "$oid": "695abb640c963501e2acecd9"},</a:t>
            </a:r>
          </a:p>
          <a:p>
            <a:pPr algn="just">
              <a:lnSpc>
                <a:spcPts val="3602"/>
              </a:lnSpc>
            </a:pPr>
            <a:r>
              <a:rPr lang="en-US" sz="2573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 "window_start": { "$date": "2026-01-04T16:19:30Z"},</a:t>
            </a:r>
          </a:p>
          <a:p>
            <a:pPr algn="just">
              <a:lnSpc>
                <a:spcPts val="3602"/>
              </a:lnSpc>
            </a:pPr>
            <a:r>
              <a:rPr lang="en-US" sz="2573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 "window_end": { "$date": "2026-01-04T16:20:30Z"},</a:t>
            </a:r>
          </a:p>
          <a:p>
            <a:pPr algn="just">
              <a:lnSpc>
                <a:spcPts val="3602"/>
              </a:lnSpc>
            </a:pPr>
            <a:r>
              <a:rPr lang="en-US" sz="2573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 "camera_id": "cam_01",</a:t>
            </a:r>
          </a:p>
          <a:p>
            <a:pPr algn="just">
              <a:lnSpc>
                <a:spcPts val="3602"/>
              </a:lnSpc>
            </a:pPr>
            <a:r>
              <a:rPr lang="en-US" sz="2573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 "unique_motorcycle_count": 19,  "unique_car_count": 14,</a:t>
            </a:r>
          </a:p>
          <a:p>
            <a:pPr algn="just">
              <a:lnSpc>
                <a:spcPts val="3602"/>
              </a:lnSpc>
            </a:pPr>
            <a:r>
              <a:rPr lang="en-US" sz="2573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 "unique_bus_count": 11,  "unique_truck_count": 27,</a:t>
            </a:r>
          </a:p>
          <a:p>
            <a:pPr algn="just">
              <a:lnSpc>
                <a:spcPts val="3602"/>
              </a:lnSpc>
            </a:pPr>
            <a:r>
              <a:rPr lang="en-US" sz="2573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 "avg_speed_motorcycle_kmh": 0.2027123085664291,</a:t>
            </a:r>
          </a:p>
          <a:p>
            <a:pPr algn="just">
              <a:lnSpc>
                <a:spcPts val="3602"/>
              </a:lnSpc>
            </a:pPr>
            <a:r>
              <a:rPr lang="en-US" sz="2573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 "avg_speed_car_kmh": 0.43831173862729755,</a:t>
            </a:r>
          </a:p>
          <a:p>
            <a:pPr algn="just">
              <a:lnSpc>
                <a:spcPts val="3602"/>
              </a:lnSpc>
            </a:pPr>
            <a:r>
              <a:rPr lang="en-US" sz="2573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 "avg_speed_bus_kmh": 0.6074128008701585,</a:t>
            </a:r>
          </a:p>
          <a:p>
            <a:pPr algn="just">
              <a:lnSpc>
                <a:spcPts val="3602"/>
              </a:lnSpc>
            </a:pPr>
            <a:r>
              <a:rPr lang="en-US" sz="2573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 "avg_speed_truck_kmh": 0.664223162940255,</a:t>
            </a:r>
          </a:p>
          <a:p>
            <a:pPr algn="just">
              <a:lnSpc>
                <a:spcPts val="3602"/>
              </a:lnSpc>
            </a:pPr>
            <a:r>
              <a:rPr lang="en-US" sz="2573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 "avg_density_pct": 3.8297903633299875}</a:t>
            </a:r>
          </a:p>
          <a:p>
            <a:pPr algn="just">
              <a:lnSpc>
                <a:spcPts val="3602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2080289"/>
            <a:ext cx="8602210" cy="7496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700" indent="-323850" lvl="1">
              <a:lnSpc>
                <a:spcPts val="7500"/>
              </a:lnSpc>
              <a:buFont typeface="Arial"/>
              <a:buChar char="•"/>
            </a:pP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Aggregates unique vehicle counts within sliding one-minute windows.</a:t>
            </a:r>
          </a:p>
          <a:p>
            <a:pPr algn="just" marL="647700" indent="-323850" lvl="1">
              <a:lnSpc>
                <a:spcPts val="7500"/>
              </a:lnSpc>
              <a:buFont typeface="Arial"/>
              <a:buChar char="•"/>
            </a:pP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Calculates av</a:t>
            </a: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e</a:t>
            </a: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rage speeds for specific vehicle classes per minute.</a:t>
            </a:r>
          </a:p>
          <a:p>
            <a:pPr algn="just" marL="647700" indent="-323850" lvl="1">
              <a:lnSpc>
                <a:spcPts val="7500"/>
              </a:lnSpc>
              <a:buFont typeface="Arial"/>
              <a:buChar char="•"/>
            </a:pP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Co</a:t>
            </a: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mpu</a:t>
            </a: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tes avera</a:t>
            </a: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ge road d</a:t>
            </a: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ensity percentage</a:t>
            </a: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 for the tim</a:t>
            </a: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e interval.</a:t>
            </a:r>
          </a:p>
          <a:p>
            <a:pPr algn="just" marL="647700" indent="-323850" lvl="1">
              <a:lnSpc>
                <a:spcPts val="7500"/>
              </a:lnSpc>
              <a:buFont typeface="Arial"/>
              <a:buChar char="•"/>
            </a:pP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M</a:t>
            </a: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erges flow,</a:t>
            </a: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 speed, and density int</a:t>
            </a: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o </a:t>
            </a: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unifi</a:t>
            </a: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e</a:t>
            </a: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d</a:t>
            </a: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 time-series records.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31726" y="1908772"/>
            <a:ext cx="13776554" cy="542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5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2. 2. Output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199787" y="4134165"/>
            <a:ext cx="5888425" cy="2018670"/>
            <a:chOff x="0" y="0"/>
            <a:chExt cx="7851233" cy="269156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851233" cy="2691561"/>
            </a:xfrm>
            <a:custGeom>
              <a:avLst/>
              <a:gdLst/>
              <a:ahLst/>
              <a:cxnLst/>
              <a:rect r="r" b="b" t="t" l="l"/>
              <a:pathLst>
                <a:path h="2691561" w="7851233">
                  <a:moveTo>
                    <a:pt x="0" y="0"/>
                  </a:moveTo>
                  <a:lnTo>
                    <a:pt x="7851233" y="0"/>
                  </a:lnTo>
                  <a:lnTo>
                    <a:pt x="7851233" y="2691561"/>
                  </a:lnTo>
                  <a:lnTo>
                    <a:pt x="0" y="269156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76200"/>
              <a:ext cx="7851233" cy="2615361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600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V. STORAGE LAYER</a:t>
              </a:r>
            </a:p>
          </p:txBody>
        </p:sp>
      </p:grp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9062" y="67970"/>
            <a:ext cx="18049875" cy="1002632"/>
            <a:chOff x="0" y="0"/>
            <a:chExt cx="24066500" cy="133684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066500" cy="1336843"/>
            </a:xfrm>
            <a:custGeom>
              <a:avLst/>
              <a:gdLst/>
              <a:ahLst/>
              <a:cxnLst/>
              <a:rect r="r" b="b" t="t" l="l"/>
              <a:pathLst>
                <a:path h="1336843" w="24066500">
                  <a:moveTo>
                    <a:pt x="0" y="0"/>
                  </a:moveTo>
                  <a:lnTo>
                    <a:pt x="24066500" y="0"/>
                  </a:lnTo>
                  <a:lnTo>
                    <a:pt x="24066500" y="1336843"/>
                  </a:lnTo>
                  <a:lnTo>
                    <a:pt x="0" y="133684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57150"/>
              <a:ext cx="24066500" cy="127969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500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V. STORAGE LAYER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531726" y="1261072"/>
            <a:ext cx="12654111" cy="590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1. Minio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1833892"/>
            <a:ext cx="16230600" cy="6543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700" indent="-323850" lvl="1">
              <a:lnSpc>
                <a:spcPts val="7500"/>
              </a:lnSpc>
              <a:buFont typeface="Arial"/>
              <a:buChar char="•"/>
            </a:pP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Deployment: StatefulSet with 1 replica.</a:t>
            </a:r>
          </a:p>
          <a:p>
            <a:pPr algn="just" marL="647700" indent="-323850" lvl="1">
              <a:lnSpc>
                <a:spcPts val="7500"/>
              </a:lnSpc>
              <a:buFont typeface="Arial"/>
              <a:buChar char="•"/>
            </a:pP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Storage: 10Gi Persistent Volume.</a:t>
            </a:r>
          </a:p>
          <a:p>
            <a:pPr algn="just" marL="647700" indent="-323850" lvl="1">
              <a:lnSpc>
                <a:spcPts val="7500"/>
              </a:lnSpc>
              <a:buFont typeface="Arial"/>
              <a:buChar char="•"/>
            </a:pP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Credentials: Root access configured with custom username/password.</a:t>
            </a:r>
          </a:p>
          <a:p>
            <a:pPr algn="just" marL="647700" indent="-323850" lvl="1">
              <a:lnSpc>
                <a:spcPts val="7500"/>
              </a:lnSpc>
              <a:buFont typeface="Arial"/>
              <a:buChar char="•"/>
            </a:pP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Service Str</a:t>
            </a: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ateg</a:t>
            </a: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y</a:t>
            </a: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:</a:t>
            </a:r>
          </a:p>
          <a:p>
            <a:pPr algn="just" marL="1295400" indent="-431800" lvl="2">
              <a:lnSpc>
                <a:spcPts val="7500"/>
              </a:lnSpc>
              <a:buFont typeface="Arial"/>
              <a:buChar char="⚬"/>
            </a:pP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API</a:t>
            </a: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:</a:t>
            </a: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 </a:t>
            </a: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P</a:t>
            </a: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o</a:t>
            </a: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rt</a:t>
            </a: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 900</a:t>
            </a: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0 (Cl</a:t>
            </a: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u</a:t>
            </a: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st</a:t>
            </a: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e</a:t>
            </a: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rIP)</a:t>
            </a: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 for program</a:t>
            </a: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matic data </a:t>
            </a: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ingestion (Producer/Spark</a:t>
            </a: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).</a:t>
            </a:r>
          </a:p>
          <a:p>
            <a:pPr algn="just" marL="1295400" indent="-431800" lvl="2">
              <a:lnSpc>
                <a:spcPts val="7500"/>
              </a:lnSpc>
              <a:buFont typeface="Arial"/>
              <a:buChar char="⚬"/>
            </a:pP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Console: Po</a:t>
            </a: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rt</a:t>
            </a: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 9001 (ClusterIP) f</a:t>
            </a: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o</a:t>
            </a: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r</a:t>
            </a: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 </a:t>
            </a: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b</a:t>
            </a: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r</a:t>
            </a: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ows</a:t>
            </a: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e</a:t>
            </a: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r-b</a:t>
            </a: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a</a:t>
            </a: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s</a:t>
            </a: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e</a:t>
            </a: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d</a:t>
            </a: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 object ma</a:t>
            </a: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nagement</a:t>
            </a: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.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9062" y="67970"/>
            <a:ext cx="18049875" cy="1002632"/>
            <a:chOff x="0" y="0"/>
            <a:chExt cx="24066500" cy="133684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066500" cy="1336843"/>
            </a:xfrm>
            <a:custGeom>
              <a:avLst/>
              <a:gdLst/>
              <a:ahLst/>
              <a:cxnLst/>
              <a:rect r="r" b="b" t="t" l="l"/>
              <a:pathLst>
                <a:path h="1336843" w="24066500">
                  <a:moveTo>
                    <a:pt x="0" y="0"/>
                  </a:moveTo>
                  <a:lnTo>
                    <a:pt x="24066500" y="0"/>
                  </a:lnTo>
                  <a:lnTo>
                    <a:pt x="24066500" y="1336843"/>
                  </a:lnTo>
                  <a:lnTo>
                    <a:pt x="0" y="133684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57150"/>
              <a:ext cx="24066500" cy="127969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500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V. STORAGE LAYER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531726" y="1261072"/>
            <a:ext cx="12654111" cy="590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1. Minio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28700" y="2032630"/>
            <a:ext cx="15418031" cy="7868663"/>
            <a:chOff x="0" y="0"/>
            <a:chExt cx="20557374" cy="10491551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19402364" cy="10491551"/>
              <a:chOff x="0" y="0"/>
              <a:chExt cx="3337518" cy="1804715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3337518" cy="1804715"/>
              </a:xfrm>
              <a:custGeom>
                <a:avLst/>
                <a:gdLst/>
                <a:ahLst/>
                <a:cxnLst/>
                <a:rect r="r" b="b" t="t" l="l"/>
                <a:pathLst>
                  <a:path h="1804715" w="3337518">
                    <a:moveTo>
                      <a:pt x="12769" y="0"/>
                    </a:moveTo>
                    <a:lnTo>
                      <a:pt x="3324750" y="0"/>
                    </a:lnTo>
                    <a:cubicBezTo>
                      <a:pt x="3331802" y="0"/>
                      <a:pt x="3337518" y="5717"/>
                      <a:pt x="3337518" y="12769"/>
                    </a:cubicBezTo>
                    <a:lnTo>
                      <a:pt x="3337518" y="1791947"/>
                    </a:lnTo>
                    <a:cubicBezTo>
                      <a:pt x="3337518" y="1798999"/>
                      <a:pt x="3331802" y="1804715"/>
                      <a:pt x="3324750" y="1804715"/>
                    </a:cubicBezTo>
                    <a:lnTo>
                      <a:pt x="12769" y="1804715"/>
                    </a:lnTo>
                    <a:cubicBezTo>
                      <a:pt x="5717" y="1804715"/>
                      <a:pt x="0" y="1798999"/>
                      <a:pt x="0" y="1791947"/>
                    </a:cubicBezTo>
                    <a:lnTo>
                      <a:pt x="0" y="12769"/>
                    </a:lnTo>
                    <a:cubicBezTo>
                      <a:pt x="0" y="5717"/>
                      <a:pt x="5717" y="0"/>
                      <a:pt x="12769" y="0"/>
                    </a:cubicBezTo>
                    <a:close/>
                  </a:path>
                </a:pathLst>
              </a:custGeom>
              <a:solidFill>
                <a:srgbClr val="EFEFEF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200025"/>
                <a:ext cx="3337518" cy="200474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631"/>
                  </a:lnSpc>
                </a:pPr>
              </a:p>
            </p:txBody>
          </p:sp>
        </p:grpSp>
        <p:sp>
          <p:nvSpPr>
            <p:cNvPr name="TextBox 11" id="11"/>
            <p:cNvSpPr txBox="true"/>
            <p:nvPr/>
          </p:nvSpPr>
          <p:spPr>
            <a:xfrm rot="0">
              <a:off x="662632" y="240668"/>
              <a:ext cx="19894742" cy="6937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720"/>
                </a:lnSpc>
              </a:pPr>
              <a:r>
                <a:rPr lang="en-US" sz="3100" b="true">
                  <a:solidFill>
                    <a:srgbClr val="000000"/>
                  </a:solidFill>
                  <a:latin typeface="Futura Ultra-Bold"/>
                  <a:ea typeface="Futura Ultra-Bold"/>
                  <a:cs typeface="Futura Ultra-Bold"/>
                  <a:sym typeface="Futura Ultra-Bold"/>
                </a:rPr>
                <a:t>Example Structure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662632" y="1124944"/>
              <a:ext cx="19299945" cy="882551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5318"/>
                </a:lnSpc>
              </a:pPr>
              <a:r>
                <a:rPr lang="en-US" sz="2954">
                  <a:solidFill>
                    <a:srgbClr val="000000"/>
                  </a:solidFill>
                  <a:latin typeface="Futura"/>
                  <a:ea typeface="Futura"/>
                  <a:cs typeface="Futura"/>
                  <a:sym typeface="Futura"/>
                </a:rPr>
                <a:t>/traffic_data/</a:t>
              </a:r>
            </a:p>
            <a:p>
              <a:pPr algn="just">
                <a:lnSpc>
                  <a:spcPts val="5318"/>
                </a:lnSpc>
              </a:pPr>
              <a:r>
                <a:rPr lang="en-US" sz="2954">
                  <a:solidFill>
                    <a:srgbClr val="000000"/>
                  </a:solidFill>
                  <a:latin typeface="Futura"/>
                  <a:ea typeface="Futura"/>
                  <a:cs typeface="Futura"/>
                  <a:sym typeface="Futura"/>
                </a:rPr>
                <a:t>├── models/</a:t>
              </a:r>
            </a:p>
            <a:p>
              <a:pPr algn="just">
                <a:lnSpc>
                  <a:spcPts val="5318"/>
                </a:lnSpc>
              </a:pPr>
              <a:r>
                <a:rPr lang="en-US" sz="2954">
                  <a:solidFill>
                    <a:srgbClr val="000000"/>
                  </a:solidFill>
                  <a:latin typeface="Futura"/>
                  <a:ea typeface="Futura"/>
                  <a:cs typeface="Futura"/>
                  <a:sym typeface="Futura"/>
                </a:rPr>
                <a:t>│   ├── rtdetr_traffic_best.pt</a:t>
              </a:r>
            </a:p>
            <a:p>
              <a:pPr algn="just">
                <a:lnSpc>
                  <a:spcPts val="5318"/>
                </a:lnSpc>
              </a:pPr>
              <a:r>
                <a:rPr lang="en-US" sz="2954">
                  <a:solidFill>
                    <a:srgbClr val="000000"/>
                  </a:solidFill>
                  <a:latin typeface="Futura"/>
                  <a:ea typeface="Futura"/>
                  <a:cs typeface="Futura"/>
                  <a:sym typeface="Futura"/>
                </a:rPr>
                <a:t>│   ├── yolov8_traffic_best.pt</a:t>
              </a:r>
            </a:p>
            <a:p>
              <a:pPr algn="just">
                <a:lnSpc>
                  <a:spcPts val="5318"/>
                </a:lnSpc>
              </a:pPr>
              <a:r>
                <a:rPr lang="en-US" sz="2954">
                  <a:solidFill>
                    <a:srgbClr val="000000"/>
                  </a:solidFill>
                  <a:latin typeface="Futura"/>
                  <a:ea typeface="Futura"/>
                  <a:cs typeface="Futura"/>
                  <a:sym typeface="Futura"/>
                </a:rPr>
                <a:t>│   ├── yolo11n_traffic_best.pt</a:t>
              </a:r>
            </a:p>
            <a:p>
              <a:pPr algn="just">
                <a:lnSpc>
                  <a:spcPts val="5318"/>
                </a:lnSpc>
              </a:pPr>
              <a:r>
                <a:rPr lang="en-US" sz="2954">
                  <a:solidFill>
                    <a:srgbClr val="000000"/>
                  </a:solidFill>
                  <a:latin typeface="Futura"/>
                  <a:ea typeface="Futura"/>
                  <a:cs typeface="Futura"/>
                  <a:sym typeface="Futura"/>
                </a:rPr>
                <a:t>├── raw_lmdb/</a:t>
              </a:r>
            </a:p>
            <a:p>
              <a:pPr algn="just">
                <a:lnSpc>
                  <a:spcPts val="5318"/>
                </a:lnSpc>
              </a:pPr>
              <a:r>
                <a:rPr lang="en-US" sz="2954">
                  <a:solidFill>
                    <a:srgbClr val="000000"/>
                  </a:solidFill>
                  <a:latin typeface="Futura"/>
                  <a:ea typeface="Futura"/>
                  <a:cs typeface="Futura"/>
                  <a:sym typeface="Futura"/>
                </a:rPr>
                <a:t>│   ├── cam_01.lmdb</a:t>
              </a:r>
            </a:p>
            <a:p>
              <a:pPr algn="just">
                <a:lnSpc>
                  <a:spcPts val="5318"/>
                </a:lnSpc>
              </a:pPr>
              <a:r>
                <a:rPr lang="en-US" sz="2954">
                  <a:solidFill>
                    <a:srgbClr val="000000"/>
                  </a:solidFill>
                  <a:latin typeface="Futura"/>
                  <a:ea typeface="Futura"/>
                  <a:cs typeface="Futura"/>
                  <a:sym typeface="Futura"/>
                </a:rPr>
                <a:t>│            ├── data.mdb</a:t>
              </a:r>
            </a:p>
            <a:p>
              <a:pPr algn="just">
                <a:lnSpc>
                  <a:spcPts val="5318"/>
                </a:lnSpc>
              </a:pPr>
              <a:r>
                <a:rPr lang="en-US" sz="2954">
                  <a:solidFill>
                    <a:srgbClr val="000000"/>
                  </a:solidFill>
                  <a:latin typeface="Futura"/>
                  <a:ea typeface="Futura"/>
                  <a:cs typeface="Futura"/>
                  <a:sym typeface="Futura"/>
                </a:rPr>
                <a:t>│            ├── lock.mdb</a:t>
              </a:r>
            </a:p>
            <a:p>
              <a:pPr algn="just">
                <a:lnSpc>
                  <a:spcPts val="5318"/>
                </a:lnSpc>
              </a:pPr>
              <a:r>
                <a:rPr lang="en-US" sz="2954">
                  <a:solidFill>
                    <a:srgbClr val="000000"/>
                  </a:solidFill>
                  <a:latin typeface="Futura"/>
                  <a:ea typeface="Futura"/>
                  <a:cs typeface="Futura"/>
                  <a:sym typeface="Futura"/>
                </a:rPr>
                <a:t>└   ├── cam_02.lmdb</a:t>
              </a:r>
            </a:p>
          </p:txBody>
        </p:sp>
      </p:grp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9062" y="67970"/>
            <a:ext cx="18049875" cy="1002632"/>
            <a:chOff x="0" y="0"/>
            <a:chExt cx="24066500" cy="133684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066500" cy="1336843"/>
            </a:xfrm>
            <a:custGeom>
              <a:avLst/>
              <a:gdLst/>
              <a:ahLst/>
              <a:cxnLst/>
              <a:rect r="r" b="b" t="t" l="l"/>
              <a:pathLst>
                <a:path h="1336843" w="24066500">
                  <a:moveTo>
                    <a:pt x="0" y="0"/>
                  </a:moveTo>
                  <a:lnTo>
                    <a:pt x="24066500" y="0"/>
                  </a:lnTo>
                  <a:lnTo>
                    <a:pt x="24066500" y="1336843"/>
                  </a:lnTo>
                  <a:lnTo>
                    <a:pt x="0" y="133684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57150"/>
              <a:ext cx="24066500" cy="127969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500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V. STORAGE LAYER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531726" y="1261072"/>
            <a:ext cx="12654111" cy="590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2. MongoDB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1833892"/>
            <a:ext cx="17140238" cy="6543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700" indent="-323850" lvl="1">
              <a:lnSpc>
                <a:spcPts val="7500"/>
              </a:lnSpc>
              <a:buFont typeface="Arial"/>
              <a:buChar char="•"/>
            </a:pP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Deployment: StatefulSet with 1 replica.</a:t>
            </a:r>
          </a:p>
          <a:p>
            <a:pPr algn="just" marL="647700" indent="-323850" lvl="1">
              <a:lnSpc>
                <a:spcPts val="7500"/>
              </a:lnSpc>
              <a:buFont typeface="Arial"/>
              <a:buChar char="•"/>
            </a:pP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Storage: 5Gi Persistent Volume.</a:t>
            </a:r>
          </a:p>
          <a:p>
            <a:pPr algn="just" marL="647700" indent="-323850" lvl="1">
              <a:lnSpc>
                <a:spcPts val="7500"/>
              </a:lnSpc>
              <a:buFont typeface="Arial"/>
              <a:buChar char="•"/>
            </a:pP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Database Version: Official Mongo 6.0 image.</a:t>
            </a:r>
          </a:p>
          <a:p>
            <a:pPr algn="just" marL="647700" indent="-323850" lvl="1">
              <a:lnSpc>
                <a:spcPts val="7500"/>
              </a:lnSpc>
              <a:buFont typeface="Arial"/>
              <a:buChar char="•"/>
            </a:pP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Service Str</a:t>
            </a: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ateg</a:t>
            </a: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y</a:t>
            </a: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:</a:t>
            </a:r>
          </a:p>
          <a:p>
            <a:pPr algn="just" marL="1295400" indent="-431800" lvl="2">
              <a:lnSpc>
                <a:spcPts val="7500"/>
              </a:lnSpc>
              <a:buFont typeface="Arial"/>
              <a:buChar char="⚬"/>
            </a:pP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Internal</a:t>
            </a: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:</a:t>
            </a: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 </a:t>
            </a: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P</a:t>
            </a: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o</a:t>
            </a: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rt</a:t>
            </a: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 27017</a:t>
            </a: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 (Cl</a:t>
            </a: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u</a:t>
            </a: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st</a:t>
            </a: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e</a:t>
            </a: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rIP)</a:t>
            </a: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 for Spark S</a:t>
            </a: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ink and Metabase con</a:t>
            </a: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nection</a:t>
            </a: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.</a:t>
            </a:r>
          </a:p>
          <a:p>
            <a:pPr algn="just" marL="1295400" indent="-431800" lvl="2">
              <a:lnSpc>
                <a:spcPts val="7500"/>
              </a:lnSpc>
              <a:buFont typeface="Arial"/>
              <a:buChar char="⚬"/>
            </a:pP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S</a:t>
            </a: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ecurity: Roo</a:t>
            </a: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t</a:t>
            </a: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 authenticati</a:t>
            </a: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on enable</a:t>
            </a: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d</a:t>
            </a: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 with predefined admi</a:t>
            </a: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nistrative credentials</a:t>
            </a: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.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9062" y="67970"/>
            <a:ext cx="18049875" cy="1002632"/>
            <a:chOff x="0" y="0"/>
            <a:chExt cx="24066500" cy="133684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066500" cy="1336843"/>
            </a:xfrm>
            <a:custGeom>
              <a:avLst/>
              <a:gdLst/>
              <a:ahLst/>
              <a:cxnLst/>
              <a:rect r="r" b="b" t="t" l="l"/>
              <a:pathLst>
                <a:path h="1336843" w="24066500">
                  <a:moveTo>
                    <a:pt x="0" y="0"/>
                  </a:moveTo>
                  <a:lnTo>
                    <a:pt x="24066500" y="0"/>
                  </a:lnTo>
                  <a:lnTo>
                    <a:pt x="24066500" y="1336843"/>
                  </a:lnTo>
                  <a:lnTo>
                    <a:pt x="0" y="133684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57150"/>
              <a:ext cx="24066500" cy="127969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500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V. STORAGE LAYER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531726" y="1261072"/>
            <a:ext cx="12654111" cy="590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3. Redis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1833892"/>
            <a:ext cx="17140238" cy="8448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700" indent="-323850" lvl="1">
              <a:lnSpc>
                <a:spcPts val="7500"/>
              </a:lnSpc>
              <a:buFont typeface="Arial"/>
              <a:buChar char="•"/>
            </a:pP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Deployment: Deployment with 1 replica. </a:t>
            </a:r>
          </a:p>
          <a:p>
            <a:pPr algn="just" marL="647700" indent="-323850" lvl="1">
              <a:lnSpc>
                <a:spcPts val="7500"/>
              </a:lnSpc>
              <a:buFont typeface="Arial"/>
              <a:buChar char="•"/>
            </a:pP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Storage: Ephemeral (In-Memory RAM-based, no Persistent Volume). </a:t>
            </a:r>
          </a:p>
          <a:p>
            <a:pPr algn="just" marL="647700" indent="-323850" lvl="1">
              <a:lnSpc>
                <a:spcPts val="7500"/>
              </a:lnSpc>
              <a:buFont typeface="Arial"/>
              <a:buChar char="•"/>
            </a:pP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Database Version: Official Redis Alpine image (Lightweight). </a:t>
            </a:r>
          </a:p>
          <a:p>
            <a:pPr algn="just" marL="647700" indent="-323850" lvl="1">
              <a:lnSpc>
                <a:spcPts val="7500"/>
              </a:lnSpc>
              <a:buFont typeface="Arial"/>
              <a:buChar char="•"/>
            </a:pP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Service Str</a:t>
            </a: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ateg</a:t>
            </a: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y</a:t>
            </a: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:</a:t>
            </a:r>
          </a:p>
          <a:p>
            <a:pPr algn="just" marL="1295400" indent="-431800" lvl="2">
              <a:lnSpc>
                <a:spcPts val="7500"/>
              </a:lnSpc>
              <a:buFont typeface="Arial"/>
              <a:buChar char="⚬"/>
            </a:pP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Internal</a:t>
            </a: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:</a:t>
            </a: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 </a:t>
            </a: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P</a:t>
            </a: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o</a:t>
            </a: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rt</a:t>
            </a: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 6379 via redis-service</a:t>
            </a: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 (Cl</a:t>
            </a: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u</a:t>
            </a: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st</a:t>
            </a: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e</a:t>
            </a: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rIP)</a:t>
            </a: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 for Spark Workers coordinat</a:t>
            </a: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ion and metadata ca</a:t>
            </a: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ching</a:t>
            </a: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. </a:t>
            </a:r>
          </a:p>
          <a:p>
            <a:pPr algn="just" marL="1295400" indent="-431800" lvl="2">
              <a:lnSpc>
                <a:spcPts val="7500"/>
              </a:lnSpc>
              <a:buFont typeface="Arial"/>
              <a:buChar char="⚬"/>
            </a:pP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S</a:t>
            </a: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ecurity: Default sta</a:t>
            </a: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ndalone mo</a:t>
            </a: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de</a:t>
            </a: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 (No password authe</a:t>
            </a: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ntication configured in this manifest)</a:t>
            </a:r>
            <a:r>
              <a:rPr lang="en-US" sz="3000" i="true" spc="15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.</a:t>
            </a:r>
          </a:p>
          <a:p>
            <a:pPr algn="just" marL="1295400" indent="-431800" lvl="2">
              <a:lnSpc>
                <a:spcPts val="7500"/>
              </a:lnSpc>
              <a:buFont typeface="Arial"/>
              <a:buChar char="⚬"/>
            </a:pP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199787" y="4134165"/>
            <a:ext cx="5888425" cy="2018670"/>
            <a:chOff x="0" y="0"/>
            <a:chExt cx="7851233" cy="269156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851233" cy="2691561"/>
            </a:xfrm>
            <a:custGeom>
              <a:avLst/>
              <a:gdLst/>
              <a:ahLst/>
              <a:cxnLst/>
              <a:rect r="r" b="b" t="t" l="l"/>
              <a:pathLst>
                <a:path h="2691561" w="7851233">
                  <a:moveTo>
                    <a:pt x="0" y="0"/>
                  </a:moveTo>
                  <a:lnTo>
                    <a:pt x="7851233" y="0"/>
                  </a:lnTo>
                  <a:lnTo>
                    <a:pt x="7851233" y="2691561"/>
                  </a:lnTo>
                  <a:lnTo>
                    <a:pt x="0" y="269156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76200"/>
              <a:ext cx="7851233" cy="2615361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600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VI. LESSON LEARNED</a:t>
              </a:r>
            </a:p>
          </p:txBody>
        </p:sp>
      </p:grp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9062" y="67970"/>
            <a:ext cx="18049875" cy="1002632"/>
            <a:chOff x="0" y="0"/>
            <a:chExt cx="24066500" cy="133684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066500" cy="1336843"/>
            </a:xfrm>
            <a:custGeom>
              <a:avLst/>
              <a:gdLst/>
              <a:ahLst/>
              <a:cxnLst/>
              <a:rect r="r" b="b" t="t" l="l"/>
              <a:pathLst>
                <a:path h="1336843" w="24066500">
                  <a:moveTo>
                    <a:pt x="0" y="0"/>
                  </a:moveTo>
                  <a:lnTo>
                    <a:pt x="24066500" y="0"/>
                  </a:lnTo>
                  <a:lnTo>
                    <a:pt x="24066500" y="1336843"/>
                  </a:lnTo>
                  <a:lnTo>
                    <a:pt x="0" y="133684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57150"/>
              <a:ext cx="24066500" cy="127969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500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VI. LESSON LEARNED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494464" y="1240112"/>
            <a:ext cx="17299072" cy="3971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500"/>
              </a:lnSpc>
            </a:pPr>
            <a:r>
              <a:rPr lang="en-US" b="true" sz="3000" spc="15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4.1. Lessons on Data Ingestion: Solving the "Small Files Problem" with LMDB</a:t>
            </a:r>
          </a:p>
          <a:p>
            <a:pPr algn="just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 spc="15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Context: The project ingests a dataset of 10,000 traffic images</a:t>
            </a:r>
          </a:p>
          <a:p>
            <a:pPr algn="just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 spc="15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Approach: </a:t>
            </a:r>
          </a:p>
          <a:p>
            <a:pPr algn="just" marL="1295400" indent="-431800" lvl="2">
              <a:lnSpc>
                <a:spcPts val="4500"/>
              </a:lnSpc>
              <a:buFont typeface="Arial"/>
              <a:buChar char="⚬"/>
            </a:pPr>
            <a:r>
              <a:rPr lang="en-US" sz="3000" spc="15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Approach 1. Raw File Iteration. Reading ‘.jpg‘ files directly from disk.</a:t>
            </a:r>
          </a:p>
          <a:p>
            <a:pPr algn="just" marL="1295400" indent="-431800" lvl="2">
              <a:lnSpc>
                <a:spcPts val="4500"/>
              </a:lnSpc>
              <a:buFont typeface="Arial"/>
              <a:buChar char="⚬"/>
            </a:pPr>
            <a:r>
              <a:rPr lang="en-US" b="true" sz="3000" spc="15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Approach 2. Binary Packing (LMDB). Consolidating images into a Key-Value Lightning Memory- Mapped Database.</a:t>
            </a:r>
          </a:p>
          <a:p>
            <a:pPr algn="just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 spc="15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Best Practice: Container formats leverage sequential reads, memory mapping.</a:t>
            </a:r>
          </a:p>
        </p:txBody>
      </p:sp>
      <p:sp>
        <p:nvSpPr>
          <p:cNvPr name="AutoShape 7" id="7"/>
          <p:cNvSpPr/>
          <p:nvPr/>
        </p:nvSpPr>
        <p:spPr>
          <a:xfrm>
            <a:off x="550776" y="5383487"/>
            <a:ext cx="649224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550776" y="5469212"/>
            <a:ext cx="17299072" cy="454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500"/>
              </a:lnSpc>
            </a:pPr>
            <a:r>
              <a:rPr lang="en-US" b="true" sz="3000" spc="15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4.2. Lessons on Data Processing: The "Distributed Overhead" Paradox</a:t>
            </a:r>
          </a:p>
          <a:p>
            <a:pPr algn="just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 spc="15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Context: Processing small datasets on a distributed cluster vs. local node. </a:t>
            </a:r>
          </a:p>
          <a:p>
            <a:pPr algn="just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 spc="15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Approach:</a:t>
            </a:r>
          </a:p>
          <a:p>
            <a:pPr algn="just" marL="1295400" indent="-431800" lvl="2">
              <a:lnSpc>
                <a:spcPts val="4500"/>
              </a:lnSpc>
              <a:buFont typeface="Arial"/>
              <a:buChar char="⚬"/>
            </a:pPr>
            <a:r>
              <a:rPr lang="en-US" sz="3000" spc="15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Approach 1. Horizontal Scaling. 35% slower by network coordination overhead. </a:t>
            </a:r>
          </a:p>
          <a:p>
            <a:pPr algn="just" marL="1295400" indent="-431800" lvl="2">
              <a:lnSpc>
                <a:spcPts val="4500"/>
              </a:lnSpc>
              <a:buFont typeface="Arial"/>
              <a:buChar char="⚬"/>
            </a:pPr>
            <a:r>
              <a:rPr lang="en-US" b="true" sz="3000" spc="15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Approach 2. Vertical Scaling. Faster processing with no network latency. </a:t>
            </a:r>
          </a:p>
          <a:p>
            <a:pPr algn="just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 spc="15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Best Practice: </a:t>
            </a:r>
            <a:r>
              <a:rPr lang="en-US" sz="3000" spc="15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Av</a:t>
            </a:r>
            <a:r>
              <a:rPr lang="en-US" sz="3000" spc="15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</a:t>
            </a:r>
            <a:r>
              <a:rPr lang="en-US" sz="3000" spc="15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id dis</a:t>
            </a:r>
            <a:r>
              <a:rPr lang="en-US" sz="3000" spc="15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</a:t>
            </a:r>
            <a:r>
              <a:rPr lang="en-US" sz="3000" spc="15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</a:t>
            </a:r>
            <a:r>
              <a:rPr lang="en-US" sz="3000" spc="15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</a:t>
            </a:r>
            <a:r>
              <a:rPr lang="en-US" sz="3000" spc="15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buted syst</a:t>
            </a:r>
            <a:r>
              <a:rPr lang="en-US" sz="3000" spc="15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</a:t>
            </a:r>
            <a:r>
              <a:rPr lang="en-US" sz="3000" spc="15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ms</a:t>
            </a:r>
            <a:r>
              <a:rPr lang="en-US" sz="3000" spc="15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for</a:t>
            </a:r>
            <a:r>
              <a:rPr lang="en-US" sz="3000" spc="15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s</a:t>
            </a:r>
            <a:r>
              <a:rPr lang="en-US" sz="3000" spc="15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ma</a:t>
            </a:r>
            <a:r>
              <a:rPr lang="en-US" sz="3000" spc="15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ll</a:t>
            </a:r>
            <a:r>
              <a:rPr lang="en-US" sz="3000" spc="15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000" spc="15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dat</a:t>
            </a:r>
            <a:r>
              <a:rPr lang="en-US" sz="3000" spc="15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</a:t>
            </a:r>
            <a:r>
              <a:rPr lang="en-US" sz="3000" spc="15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;</a:t>
            </a:r>
            <a:r>
              <a:rPr lang="en-US" sz="3000" spc="15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000" spc="15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mo</a:t>
            </a:r>
            <a:r>
              <a:rPr lang="en-US" sz="3000" spc="15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n</a:t>
            </a:r>
            <a:r>
              <a:rPr lang="en-US" sz="3000" spc="15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oli</a:t>
            </a:r>
            <a:r>
              <a:rPr lang="en-US" sz="3000" spc="15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</a:t>
            </a:r>
            <a:r>
              <a:rPr lang="en-US" sz="3000" spc="15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h</a:t>
            </a:r>
            <a:r>
              <a:rPr lang="en-US" sz="3000" spc="15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</a:t>
            </a:r>
            <a:r>
              <a:rPr lang="en-US" sz="3000" spc="15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 is</a:t>
            </a:r>
            <a:r>
              <a:rPr lang="en-US" sz="3000" spc="15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000" spc="15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</a:t>
            </a:r>
            <a:r>
              <a:rPr lang="en-US" sz="3000" spc="15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as</a:t>
            </a:r>
            <a:r>
              <a:rPr lang="en-US" sz="3000" spc="15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</a:t>
            </a:r>
            <a:r>
              <a:rPr lang="en-US" sz="3000" spc="15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er.</a:t>
            </a:r>
          </a:p>
        </p:txBody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9062" y="67970"/>
            <a:ext cx="18049875" cy="1002632"/>
            <a:chOff x="0" y="0"/>
            <a:chExt cx="24066500" cy="133684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066500" cy="1336843"/>
            </a:xfrm>
            <a:custGeom>
              <a:avLst/>
              <a:gdLst/>
              <a:ahLst/>
              <a:cxnLst/>
              <a:rect r="r" b="b" t="t" l="l"/>
              <a:pathLst>
                <a:path h="1336843" w="24066500">
                  <a:moveTo>
                    <a:pt x="0" y="0"/>
                  </a:moveTo>
                  <a:lnTo>
                    <a:pt x="24066500" y="0"/>
                  </a:lnTo>
                  <a:lnTo>
                    <a:pt x="24066500" y="1336843"/>
                  </a:lnTo>
                  <a:lnTo>
                    <a:pt x="0" y="133684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57150"/>
              <a:ext cx="24066500" cy="127969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500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VI. LESSON LEARNED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494464" y="1240112"/>
            <a:ext cx="17299072" cy="3971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500"/>
              </a:lnSpc>
            </a:pPr>
            <a:r>
              <a:rPr lang="en-US" b="true" sz="3000" spc="15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4.3. Lessons on Stream Processing: Handling Late Data</a:t>
            </a:r>
          </a:p>
          <a:p>
            <a:pPr algn="just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 spc="15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Context: Aggregating traffic density with network jitter causing delays. </a:t>
            </a:r>
          </a:p>
          <a:p>
            <a:pPr algn="just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 spc="15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Approach:</a:t>
            </a:r>
          </a:p>
          <a:p>
            <a:pPr algn="just" marL="1295400" indent="-431800" lvl="2">
              <a:lnSpc>
                <a:spcPts val="4500"/>
              </a:lnSpc>
              <a:buFont typeface="Arial"/>
              <a:buChar char="⚬"/>
            </a:pPr>
            <a:r>
              <a:rPr lang="en-US" sz="3000" spc="15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Approach 1. Processing Time. Inaccurate results based on server clock. </a:t>
            </a:r>
          </a:p>
          <a:p>
            <a:pPr algn="just" marL="1295400" indent="-431800" lvl="2">
              <a:lnSpc>
                <a:spcPts val="4500"/>
              </a:lnSpc>
              <a:buFont typeface="Arial"/>
              <a:buChar char="⚬"/>
            </a:pPr>
            <a:r>
              <a:rPr lang="en-US" b="true" sz="3000" spc="15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Approach 2. Event Time. Accurate windowing using timestamps &amp; Watermarking. </a:t>
            </a:r>
          </a:p>
          <a:p>
            <a:pPr algn="just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 spc="15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Best Practice: </a:t>
            </a:r>
            <a:r>
              <a:rPr lang="en-US" sz="3000" spc="15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Alw</a:t>
            </a:r>
            <a:r>
              <a:rPr lang="en-US" sz="3000" spc="15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</a:t>
            </a:r>
            <a:r>
              <a:rPr lang="en-US" sz="3000" spc="15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y</a:t>
            </a:r>
            <a:r>
              <a:rPr lang="en-US" sz="3000" spc="15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 </a:t>
            </a:r>
            <a:r>
              <a:rPr lang="en-US" sz="3000" spc="15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</a:t>
            </a:r>
            <a:r>
              <a:rPr lang="en-US" sz="3000" spc="15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</a:t>
            </a:r>
            <a:r>
              <a:rPr lang="en-US" sz="3000" spc="15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coupl</a:t>
            </a:r>
            <a:r>
              <a:rPr lang="en-US" sz="3000" spc="15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 </a:t>
            </a:r>
            <a:r>
              <a:rPr lang="en-US" sz="3000" spc="15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Ev</a:t>
            </a:r>
            <a:r>
              <a:rPr lang="en-US" sz="3000" spc="15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ent</a:t>
            </a:r>
            <a:r>
              <a:rPr lang="en-US" sz="3000" spc="15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T</a:t>
            </a:r>
            <a:r>
              <a:rPr lang="en-US" sz="3000" spc="15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</a:t>
            </a:r>
            <a:r>
              <a:rPr lang="en-US" sz="3000" spc="15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me</a:t>
            </a:r>
            <a:r>
              <a:rPr lang="en-US" sz="3000" spc="15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000" spc="15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</a:t>
            </a:r>
            <a:r>
              <a:rPr lang="en-US" sz="3000" spc="15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</a:t>
            </a:r>
            <a:r>
              <a:rPr lang="en-US" sz="3000" spc="15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om Proc</a:t>
            </a:r>
            <a:r>
              <a:rPr lang="en-US" sz="3000" spc="15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es</a:t>
            </a:r>
            <a:r>
              <a:rPr lang="en-US" sz="3000" spc="15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</a:t>
            </a:r>
            <a:r>
              <a:rPr lang="en-US" sz="3000" spc="15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ing</a:t>
            </a:r>
            <a:r>
              <a:rPr lang="en-US" sz="3000" spc="15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Time</a:t>
            </a:r>
            <a:r>
              <a:rPr lang="en-US" sz="3000" spc="15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</p:txBody>
      </p:sp>
      <p:sp>
        <p:nvSpPr>
          <p:cNvPr name="AutoShape 7" id="7"/>
          <p:cNvSpPr/>
          <p:nvPr/>
        </p:nvSpPr>
        <p:spPr>
          <a:xfrm>
            <a:off x="550776" y="5383487"/>
            <a:ext cx="649224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550776" y="5469212"/>
            <a:ext cx="17299072" cy="3971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500"/>
              </a:lnSpc>
            </a:pPr>
            <a:r>
              <a:rPr lang="en-US" b="true" sz="3000" spc="15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4.4. Lessons on Data Storage: Hybrid Storage Strategy</a:t>
            </a:r>
          </a:p>
          <a:p>
            <a:pPr algn="just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 spc="15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Context: Storing both high-volume raw images and low-volume metrics. </a:t>
            </a:r>
          </a:p>
          <a:p>
            <a:pPr algn="just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 spc="15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Approach:</a:t>
            </a:r>
          </a:p>
          <a:p>
            <a:pPr algn="just" marL="1295400" indent="-431800" lvl="2">
              <a:lnSpc>
                <a:spcPts val="4500"/>
              </a:lnSpc>
              <a:buFont typeface="Arial"/>
              <a:buChar char="⚬"/>
            </a:pPr>
            <a:r>
              <a:rPr lang="en-US" sz="3000" spc="15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Approach 1. Single Store. Caused database bloat and slow performance. </a:t>
            </a:r>
          </a:p>
          <a:p>
            <a:pPr algn="just" marL="1295400" indent="-431800" lvl="2">
              <a:lnSpc>
                <a:spcPts val="4500"/>
              </a:lnSpc>
              <a:buFont typeface="Arial"/>
              <a:buChar char="⚬"/>
            </a:pPr>
            <a:r>
              <a:rPr lang="en-US" b="true" sz="3000" spc="15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Approach 2. Hybrid Store. Utilize MinIO, MongoDB, Redis. </a:t>
            </a:r>
          </a:p>
          <a:p>
            <a:pPr algn="just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 spc="15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Best Practice: </a:t>
            </a:r>
            <a:r>
              <a:rPr lang="en-US" sz="3000" spc="15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Align s</a:t>
            </a:r>
            <a:r>
              <a:rPr lang="en-US" sz="3000" spc="15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to</a:t>
            </a:r>
            <a:r>
              <a:rPr lang="en-US" sz="3000" spc="15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rage eng</a:t>
            </a:r>
            <a:r>
              <a:rPr lang="en-US" sz="3000" spc="15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in</a:t>
            </a:r>
            <a:r>
              <a:rPr lang="en-US" sz="3000" spc="15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es with data access patt</a:t>
            </a:r>
            <a:r>
              <a:rPr lang="en-US" sz="3000" spc="15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ern</a:t>
            </a:r>
            <a:r>
              <a:rPr lang="en-US" sz="3000" spc="15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</a:t>
            </a:r>
            <a:r>
              <a:rPr lang="en-US" sz="3000" spc="15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(Po</a:t>
            </a:r>
            <a:r>
              <a:rPr lang="en-US" sz="3000" spc="15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lyglo</a:t>
            </a:r>
            <a:r>
              <a:rPr lang="en-US" sz="3000" spc="15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</a:t>
            </a:r>
            <a:r>
              <a:rPr lang="en-US" sz="3000" spc="15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Persi</a:t>
            </a:r>
            <a:r>
              <a:rPr lang="en-US" sz="3000" spc="15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</a:t>
            </a:r>
            <a:r>
              <a:rPr lang="en-US" sz="3000" spc="15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</a:t>
            </a:r>
            <a:r>
              <a:rPr lang="en-US" sz="3000" spc="15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ence).</a:t>
            </a:r>
          </a:p>
        </p:txBody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9062" y="67970"/>
            <a:ext cx="18049875" cy="1002632"/>
            <a:chOff x="0" y="0"/>
            <a:chExt cx="24066500" cy="133684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066500" cy="1336843"/>
            </a:xfrm>
            <a:custGeom>
              <a:avLst/>
              <a:gdLst/>
              <a:ahLst/>
              <a:cxnLst/>
              <a:rect r="r" b="b" t="t" l="l"/>
              <a:pathLst>
                <a:path h="1336843" w="24066500">
                  <a:moveTo>
                    <a:pt x="0" y="0"/>
                  </a:moveTo>
                  <a:lnTo>
                    <a:pt x="24066500" y="0"/>
                  </a:lnTo>
                  <a:lnTo>
                    <a:pt x="24066500" y="1336843"/>
                  </a:lnTo>
                  <a:lnTo>
                    <a:pt x="0" y="133684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57150"/>
              <a:ext cx="24066500" cy="127969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500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VI. LESSON LEARNED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494464" y="1240112"/>
            <a:ext cx="17299072" cy="340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500"/>
              </a:lnSpc>
            </a:pPr>
            <a:r>
              <a:rPr lang="en-US" b="true" sz="3000" spc="15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4.5. Lessons on System Integration: K8s Service Discovery</a:t>
            </a:r>
          </a:p>
          <a:p>
            <a:pPr algn="just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 spc="15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Context: Connecting components in dynamic Kubernetes pods. </a:t>
            </a:r>
          </a:p>
          <a:p>
            <a:pPr algn="just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 spc="15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Approach:</a:t>
            </a:r>
          </a:p>
          <a:p>
            <a:pPr algn="just" marL="1295400" indent="-431800" lvl="2">
              <a:lnSpc>
                <a:spcPts val="4500"/>
              </a:lnSpc>
              <a:buFont typeface="Arial"/>
              <a:buChar char="⚬"/>
            </a:pPr>
            <a:r>
              <a:rPr lang="en-US" sz="3000" spc="15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Approach 1. Hardcoded IPs. System fails immediately upon pod restarts. </a:t>
            </a:r>
          </a:p>
          <a:p>
            <a:pPr algn="just" marL="1295400" indent="-431800" lvl="2">
              <a:lnSpc>
                <a:spcPts val="4500"/>
              </a:lnSpc>
              <a:buFont typeface="Arial"/>
              <a:buChar char="⚬"/>
            </a:pPr>
            <a:r>
              <a:rPr lang="en-US" b="true" sz="3000" spc="15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Approach 2. Internal DNS. Robust connectivity via K8s Service names. </a:t>
            </a:r>
          </a:p>
          <a:p>
            <a:pPr algn="just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 spc="15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Best Practice: Never use Po</a:t>
            </a:r>
            <a:r>
              <a:rPr lang="en-US" sz="3000" spc="15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 IPs; r</a:t>
            </a:r>
            <a:r>
              <a:rPr lang="en-US" sz="3000" spc="15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</a:t>
            </a:r>
            <a:r>
              <a:rPr lang="en-US" sz="3000" spc="15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ly</a:t>
            </a:r>
            <a:r>
              <a:rPr lang="en-US" sz="3000" spc="15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on</a:t>
            </a:r>
            <a:r>
              <a:rPr lang="en-US" sz="3000" spc="15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Serv</a:t>
            </a:r>
            <a:r>
              <a:rPr lang="en-US" sz="3000" spc="15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ic</a:t>
            </a:r>
            <a:r>
              <a:rPr lang="en-US" sz="3000" spc="15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</a:t>
            </a:r>
            <a:r>
              <a:rPr lang="en-US" sz="3000" spc="15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DNS</a:t>
            </a:r>
            <a:r>
              <a:rPr lang="en-US" sz="3000" spc="15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abstract</a:t>
            </a:r>
            <a:r>
              <a:rPr lang="en-US" sz="3000" spc="15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ion.</a:t>
            </a:r>
          </a:p>
        </p:txBody>
      </p:sp>
      <p:sp>
        <p:nvSpPr>
          <p:cNvPr name="AutoShape 7" id="7"/>
          <p:cNvSpPr/>
          <p:nvPr/>
        </p:nvSpPr>
        <p:spPr>
          <a:xfrm>
            <a:off x="550776" y="5383487"/>
            <a:ext cx="649224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550776" y="5469212"/>
            <a:ext cx="17299072" cy="3971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500"/>
              </a:lnSpc>
            </a:pPr>
            <a:r>
              <a:rPr lang="en-US" b="true" sz="3000" spc="15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4.6. Lessons on Performance: Decoupling GPU Workloads</a:t>
            </a:r>
          </a:p>
          <a:p>
            <a:pPr algn="just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 spc="15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Context: Training models where Spark CPU tasks bottlenecked GPU speed. </a:t>
            </a:r>
          </a:p>
          <a:p>
            <a:pPr algn="just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 spc="15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Approach:</a:t>
            </a:r>
          </a:p>
          <a:p>
            <a:pPr algn="just" marL="1295400" indent="-431800" lvl="2">
              <a:lnSpc>
                <a:spcPts val="4500"/>
              </a:lnSpc>
              <a:buFont typeface="Arial"/>
              <a:buChar char="⚬"/>
            </a:pPr>
            <a:r>
              <a:rPr lang="en-US" sz="3000" spc="15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Approach 1. Monolithic Job. Coupling logic slowed down training pipelines. </a:t>
            </a:r>
          </a:p>
          <a:p>
            <a:pPr algn="just" marL="1295400" indent="-431800" lvl="2">
              <a:lnSpc>
                <a:spcPts val="4500"/>
              </a:lnSpc>
              <a:buFont typeface="Arial"/>
              <a:buChar char="⚬"/>
            </a:pPr>
            <a:r>
              <a:rPr lang="en-US" b="true" sz="3000" spc="15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Approach 2. Decoupled Architecture. Spark orchestrates, dedicated Workers execute on GPU. </a:t>
            </a:r>
          </a:p>
          <a:p>
            <a:pPr algn="just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 spc="15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Best Practice: Decoup</a:t>
            </a:r>
            <a:r>
              <a:rPr lang="en-US" sz="3000" spc="15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le orches</a:t>
            </a:r>
            <a:r>
              <a:rPr lang="en-US" sz="3000" spc="15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</a:t>
            </a:r>
            <a:r>
              <a:rPr lang="en-US" sz="3000" spc="15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rat</a:t>
            </a:r>
            <a:r>
              <a:rPr lang="en-US" sz="3000" spc="15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ion from</a:t>
            </a:r>
            <a:r>
              <a:rPr lang="en-US" sz="3000" spc="15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heavy comput</a:t>
            </a:r>
            <a:r>
              <a:rPr lang="en-US" sz="3000" spc="15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 f</a:t>
            </a:r>
            <a:r>
              <a:rPr lang="en-US" sz="3000" spc="15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or effici</a:t>
            </a:r>
            <a:r>
              <a:rPr lang="en-US" sz="3000" spc="15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ency.</a:t>
            </a:r>
          </a:p>
        </p:txBody>
      </p: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9062" y="67970"/>
            <a:ext cx="18049875" cy="1002632"/>
            <a:chOff x="0" y="0"/>
            <a:chExt cx="24066500" cy="133684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066500" cy="1336843"/>
            </a:xfrm>
            <a:custGeom>
              <a:avLst/>
              <a:gdLst/>
              <a:ahLst/>
              <a:cxnLst/>
              <a:rect r="r" b="b" t="t" l="l"/>
              <a:pathLst>
                <a:path h="1336843" w="24066500">
                  <a:moveTo>
                    <a:pt x="0" y="0"/>
                  </a:moveTo>
                  <a:lnTo>
                    <a:pt x="24066500" y="0"/>
                  </a:lnTo>
                  <a:lnTo>
                    <a:pt x="24066500" y="1336843"/>
                  </a:lnTo>
                  <a:lnTo>
                    <a:pt x="0" y="133684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57150"/>
              <a:ext cx="24066500" cy="127969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500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VI. LESSON LEARNED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494464" y="1240112"/>
            <a:ext cx="17299072" cy="3971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500"/>
              </a:lnSpc>
            </a:pPr>
            <a:r>
              <a:rPr lang="en-US" b="true" sz="3000" spc="15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4.7. Lessons on Debugging: Distributed UDF Failures</a:t>
            </a:r>
          </a:p>
          <a:p>
            <a:pPr algn="just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 spc="15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Context: Remote worker errors were silent or generic. </a:t>
            </a:r>
          </a:p>
          <a:p>
            <a:pPr algn="just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 spc="15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Approach:</a:t>
            </a:r>
          </a:p>
          <a:p>
            <a:pPr algn="just" marL="1295400" indent="-431800" lvl="2">
              <a:lnSpc>
                <a:spcPts val="4500"/>
              </a:lnSpc>
              <a:buFont typeface="Arial"/>
              <a:buChar char="⚬"/>
            </a:pPr>
            <a:r>
              <a:rPr lang="en-US" sz="3000" spc="15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Approach 1. Driver Logs. Lacked context for root cause analysis. </a:t>
            </a:r>
          </a:p>
          <a:p>
            <a:pPr algn="just" marL="1295400" indent="-431800" lvl="2">
              <a:lnSpc>
                <a:spcPts val="4500"/>
              </a:lnSpc>
              <a:buFont typeface="Arial"/>
              <a:buChar char="⚬"/>
            </a:pPr>
            <a:r>
              <a:rPr lang="en-US" b="true" sz="3000" spc="15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Approach 2. Exception Wrapping. Catching errors and returning them as data (JSON). </a:t>
            </a:r>
          </a:p>
          <a:p>
            <a:pPr algn="just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 spc="15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Best Practice: Treat err</a:t>
            </a:r>
            <a:r>
              <a:rPr lang="en-US" sz="3000" spc="15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ors as</a:t>
            </a:r>
            <a:r>
              <a:rPr lang="en-US" sz="3000" spc="15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data;</a:t>
            </a:r>
            <a:r>
              <a:rPr lang="en-US" sz="3000" spc="15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ensu</a:t>
            </a:r>
            <a:r>
              <a:rPr lang="en-US" sz="3000" spc="15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</a:t>
            </a:r>
            <a:r>
              <a:rPr lang="en-US" sz="3000" spc="15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distribut</a:t>
            </a:r>
            <a:r>
              <a:rPr lang="en-US" sz="3000" spc="15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ed sy</a:t>
            </a:r>
            <a:r>
              <a:rPr lang="en-US" sz="3000" spc="15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stems fa</a:t>
            </a:r>
            <a:r>
              <a:rPr lang="en-US" sz="3000" spc="15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il grac</a:t>
            </a:r>
            <a:r>
              <a:rPr lang="en-US" sz="3000" spc="15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efully</a:t>
            </a:r>
            <a:r>
              <a:rPr lang="en-US" sz="3000" spc="15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</p:txBody>
      </p:sp>
      <p:sp>
        <p:nvSpPr>
          <p:cNvPr name="AutoShape 7" id="7"/>
          <p:cNvSpPr/>
          <p:nvPr/>
        </p:nvSpPr>
        <p:spPr>
          <a:xfrm>
            <a:off x="550776" y="5383487"/>
            <a:ext cx="649224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550776" y="5469212"/>
            <a:ext cx="17299072" cy="3971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500"/>
              </a:lnSpc>
            </a:pPr>
            <a:r>
              <a:rPr lang="en-US" b="true" sz="3000" spc="15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4.8. Lessons on Scaling: Event-Driven Strategy</a:t>
            </a:r>
          </a:p>
          <a:p>
            <a:pPr algn="just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 spc="15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Context: Scaling the system as camera count increases. </a:t>
            </a:r>
          </a:p>
          <a:p>
            <a:pPr algn="just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 spc="15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Approach:</a:t>
            </a:r>
          </a:p>
          <a:p>
            <a:pPr algn="just" marL="1295400" indent="-431800" lvl="2">
              <a:lnSpc>
                <a:spcPts val="4500"/>
              </a:lnSpc>
              <a:buFont typeface="Arial"/>
              <a:buChar char="⚬"/>
            </a:pPr>
            <a:r>
              <a:rPr lang="en-US" sz="3000" spc="15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Approach 1. Vertical Scaling. Costly and limited by single-node capacity. </a:t>
            </a:r>
          </a:p>
          <a:p>
            <a:pPr algn="just" marL="1295400" indent="-431800" lvl="2">
              <a:lnSpc>
                <a:spcPts val="4500"/>
              </a:lnSpc>
              <a:buFont typeface="Arial"/>
              <a:buChar char="⚬"/>
            </a:pPr>
            <a:r>
              <a:rPr lang="en-US" b="true" sz="3000" spc="15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Approach 2. Kafka-Driven Horizontal. Decoupled workers scale via consumer groups. </a:t>
            </a:r>
          </a:p>
          <a:p>
            <a:pPr algn="just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 spc="15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Best Practice: Use</a:t>
            </a:r>
            <a:r>
              <a:rPr lang="en-US" sz="3000" spc="15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message queues to decouple and scale stat</a:t>
            </a:r>
            <a:r>
              <a:rPr lang="en-US" sz="3000" spc="15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eles</a:t>
            </a:r>
            <a:r>
              <a:rPr lang="en-US" sz="3000" spc="15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</a:t>
            </a:r>
            <a:r>
              <a:rPr lang="en-US" sz="3000" spc="15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work</a:t>
            </a:r>
            <a:r>
              <a:rPr lang="en-US" sz="3000" spc="15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ers</a:t>
            </a:r>
          </a:p>
        </p:txBody>
      </p: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9062" y="67970"/>
            <a:ext cx="18049875" cy="1002632"/>
            <a:chOff x="0" y="0"/>
            <a:chExt cx="24066500" cy="133684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066500" cy="1336843"/>
            </a:xfrm>
            <a:custGeom>
              <a:avLst/>
              <a:gdLst/>
              <a:ahLst/>
              <a:cxnLst/>
              <a:rect r="r" b="b" t="t" l="l"/>
              <a:pathLst>
                <a:path h="1336843" w="24066500">
                  <a:moveTo>
                    <a:pt x="0" y="0"/>
                  </a:moveTo>
                  <a:lnTo>
                    <a:pt x="24066500" y="0"/>
                  </a:lnTo>
                  <a:lnTo>
                    <a:pt x="24066500" y="1336843"/>
                  </a:lnTo>
                  <a:lnTo>
                    <a:pt x="0" y="133684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57150"/>
              <a:ext cx="24066500" cy="127969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500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VI. LESSON LEARNED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494464" y="1240112"/>
            <a:ext cx="17299072" cy="3971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500"/>
              </a:lnSpc>
            </a:pPr>
            <a:r>
              <a:rPr lang="en-US" b="true" sz="3000" spc="15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4.9. Lessons on Data Quality: Schema Enforcement</a:t>
            </a:r>
          </a:p>
          <a:p>
            <a:pPr algn="just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 spc="15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Context: Handling malformed JSON data in streams. </a:t>
            </a:r>
          </a:p>
          <a:p>
            <a:pPr algn="just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 spc="15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Approach: </a:t>
            </a:r>
          </a:p>
          <a:p>
            <a:pPr algn="just" marL="1295400" indent="-431800" lvl="2">
              <a:lnSpc>
                <a:spcPts val="4500"/>
              </a:lnSpc>
              <a:buFont typeface="Arial"/>
              <a:buChar char="⚬"/>
            </a:pPr>
            <a:r>
              <a:rPr lang="en-US" sz="3000" spc="15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Approach 1. Schema Inference. Fragile; crashes entire jobs on mismatch. </a:t>
            </a:r>
          </a:p>
          <a:p>
            <a:pPr algn="just" marL="1295400" indent="-431800" lvl="2">
              <a:lnSpc>
                <a:spcPts val="4500"/>
              </a:lnSpc>
              <a:buFont typeface="Arial"/>
              <a:buChar char="⚬"/>
            </a:pPr>
            <a:r>
              <a:rPr lang="en-US" b="true" sz="3000" spc="15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Approach 2. Explicit Schema. Defined contracts with permissive error handling. </a:t>
            </a:r>
          </a:p>
          <a:p>
            <a:pPr algn="just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 spc="15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Best Practice: Enforce ex</a:t>
            </a:r>
            <a:r>
              <a:rPr lang="en-US" sz="3000" spc="15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plicit sch</a:t>
            </a:r>
            <a:r>
              <a:rPr lang="en-US" sz="3000" spc="15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emas; ne</a:t>
            </a:r>
            <a:r>
              <a:rPr lang="en-US" sz="3000" spc="15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v</a:t>
            </a:r>
            <a:r>
              <a:rPr lang="en-US" sz="3000" spc="15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er</a:t>
            </a:r>
            <a:r>
              <a:rPr lang="en-US" sz="3000" spc="15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000" spc="15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inf</a:t>
            </a:r>
            <a:r>
              <a:rPr lang="en-US" sz="3000" spc="15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</a:t>
            </a:r>
            <a:r>
              <a:rPr lang="en-US" sz="3000" spc="15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</a:t>
            </a:r>
            <a:r>
              <a:rPr lang="en-US" sz="3000" spc="15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in product</a:t>
            </a:r>
            <a:r>
              <a:rPr lang="en-US" sz="3000" spc="15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ion.</a:t>
            </a:r>
          </a:p>
        </p:txBody>
      </p:sp>
      <p:sp>
        <p:nvSpPr>
          <p:cNvPr name="AutoShape 7" id="7"/>
          <p:cNvSpPr/>
          <p:nvPr/>
        </p:nvSpPr>
        <p:spPr>
          <a:xfrm>
            <a:off x="550776" y="5383487"/>
            <a:ext cx="649224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550776" y="5469212"/>
            <a:ext cx="17299072" cy="340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500"/>
              </a:lnSpc>
            </a:pPr>
            <a:r>
              <a:rPr lang="en-US" b="true" sz="3000" spc="15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4.10. Lessons on Security: Secret Management</a:t>
            </a:r>
          </a:p>
          <a:p>
            <a:pPr algn="just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 spc="15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Context: Managing database credentials. </a:t>
            </a:r>
          </a:p>
          <a:p>
            <a:pPr algn="just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 spc="15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Approach: </a:t>
            </a:r>
          </a:p>
          <a:p>
            <a:pPr algn="just" marL="1295400" indent="-431800" lvl="2">
              <a:lnSpc>
                <a:spcPts val="4500"/>
              </a:lnSpc>
              <a:buFont typeface="Arial"/>
              <a:buChar char="⚬"/>
            </a:pPr>
            <a:r>
              <a:rPr lang="en-US" b="true" sz="3000" spc="15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Approach 1. Env Vars. Insecure, credentials visible in version control. </a:t>
            </a:r>
          </a:p>
          <a:p>
            <a:pPr algn="just" marL="1295400" indent="-431800" lvl="2">
              <a:lnSpc>
                <a:spcPts val="4500"/>
              </a:lnSpc>
              <a:buFont typeface="Arial"/>
              <a:buChar char="⚬"/>
            </a:pPr>
            <a:r>
              <a:rPr lang="en-US" sz="3000" spc="15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Approach 2. K8s Secrets. Secure injection via mounted volumes. </a:t>
            </a:r>
          </a:p>
          <a:p>
            <a:pPr algn="just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 spc="15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Best Practice: Crede</a:t>
            </a:r>
            <a:r>
              <a:rPr lang="en-US" sz="3000" spc="15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n</a:t>
            </a:r>
            <a:r>
              <a:rPr lang="en-US" sz="3000" spc="15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ti</a:t>
            </a:r>
            <a:r>
              <a:rPr lang="en-US" sz="3000" spc="15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als belong </a:t>
            </a:r>
            <a:r>
              <a:rPr lang="en-US" sz="3000" spc="15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in Secr</a:t>
            </a:r>
            <a:r>
              <a:rPr lang="en-US" sz="3000" spc="15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et Manag</a:t>
            </a:r>
            <a:r>
              <a:rPr lang="en-US" sz="3000" spc="15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er</a:t>
            </a:r>
            <a:r>
              <a:rPr lang="en-US" sz="3000" spc="15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s, never i</a:t>
            </a:r>
            <a:r>
              <a:rPr lang="en-US" sz="3000" spc="15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n code.</a:t>
            </a:r>
          </a:p>
        </p:txBody>
      </p: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9062" y="67970"/>
            <a:ext cx="18049875" cy="1002632"/>
            <a:chOff x="0" y="0"/>
            <a:chExt cx="24066500" cy="133684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066500" cy="1336843"/>
            </a:xfrm>
            <a:custGeom>
              <a:avLst/>
              <a:gdLst/>
              <a:ahLst/>
              <a:cxnLst/>
              <a:rect r="r" b="b" t="t" l="l"/>
              <a:pathLst>
                <a:path h="1336843" w="24066500">
                  <a:moveTo>
                    <a:pt x="0" y="0"/>
                  </a:moveTo>
                  <a:lnTo>
                    <a:pt x="24066500" y="0"/>
                  </a:lnTo>
                  <a:lnTo>
                    <a:pt x="24066500" y="1336843"/>
                  </a:lnTo>
                  <a:lnTo>
                    <a:pt x="0" y="133684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57150"/>
              <a:ext cx="24066500" cy="127969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500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VI. LESSON LEARNED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494464" y="1240112"/>
            <a:ext cx="17299072" cy="3971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500"/>
              </a:lnSpc>
            </a:pPr>
            <a:r>
              <a:rPr lang="en-US" b="true" sz="3000" spc="15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4.11. Lessons on Fault Tolerance: Checkpointing</a:t>
            </a:r>
          </a:p>
          <a:p>
            <a:pPr algn="just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 spc="15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Context: Recovering streaming jobs after crashes. </a:t>
            </a:r>
          </a:p>
          <a:p>
            <a:pPr algn="just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 spc="15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Approach:</a:t>
            </a:r>
          </a:p>
          <a:p>
            <a:pPr algn="just" marL="1295400" indent="-431800" lvl="2">
              <a:lnSpc>
                <a:spcPts val="4500"/>
              </a:lnSpc>
              <a:buFont typeface="Arial"/>
              <a:buChar char="⚬"/>
            </a:pPr>
            <a:r>
              <a:rPr lang="en-US" sz="3000" spc="15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Approach 1. No Checkpointing. Data loss or duplication on restart. </a:t>
            </a:r>
          </a:p>
          <a:p>
            <a:pPr algn="just" marL="1295400" indent="-431800" lvl="2">
              <a:lnSpc>
                <a:spcPts val="4500"/>
              </a:lnSpc>
              <a:buFont typeface="Arial"/>
              <a:buChar char="⚬"/>
            </a:pPr>
            <a:r>
              <a:rPr lang="en-US" b="true" sz="3000" spc="15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Approach 2. Persistent Checkpointing. Saves state to PVC to resume exactly-once. </a:t>
            </a:r>
          </a:p>
          <a:p>
            <a:pPr algn="just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 spc="15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Best Practice: Che</a:t>
            </a:r>
            <a:r>
              <a:rPr lang="en-US" sz="3000" spc="15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ckpoi</a:t>
            </a:r>
            <a:r>
              <a:rPr lang="en-US" sz="3000" spc="15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nting</a:t>
            </a:r>
            <a:r>
              <a:rPr lang="en-US" sz="3000" spc="15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000" spc="15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is </a:t>
            </a:r>
            <a:r>
              <a:rPr lang="en-US" sz="3000" spc="15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mandatory</a:t>
            </a:r>
            <a:r>
              <a:rPr lang="en-US" sz="3000" spc="15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000" spc="15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for r</a:t>
            </a:r>
            <a:r>
              <a:rPr lang="en-US" sz="3000" spc="15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eliable</a:t>
            </a:r>
            <a:r>
              <a:rPr lang="en-US" sz="3000" spc="15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stream recovery</a:t>
            </a:r>
            <a:r>
              <a:rPr lang="en-US" sz="3000" spc="15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</p:txBody>
      </p:sp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408644" y="4304186"/>
            <a:ext cx="8133684" cy="1456956"/>
            <a:chOff x="0" y="0"/>
            <a:chExt cx="10844912" cy="194260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844912" cy="1942608"/>
            </a:xfrm>
            <a:custGeom>
              <a:avLst/>
              <a:gdLst/>
              <a:ahLst/>
              <a:cxnLst/>
              <a:rect r="r" b="b" t="t" l="l"/>
              <a:pathLst>
                <a:path h="1942608" w="10844912">
                  <a:moveTo>
                    <a:pt x="0" y="0"/>
                  </a:moveTo>
                  <a:lnTo>
                    <a:pt x="10844912" y="0"/>
                  </a:lnTo>
                  <a:lnTo>
                    <a:pt x="10844912" y="1942608"/>
                  </a:lnTo>
                  <a:lnTo>
                    <a:pt x="0" y="194260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95250"/>
              <a:ext cx="10844912" cy="184735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9720"/>
                </a:lnSpc>
              </a:pPr>
              <a:r>
                <a:rPr lang="en-US" sz="9000" b="true">
                  <a:solidFill>
                    <a:srgbClr val="C00000"/>
                  </a:solidFill>
                  <a:latin typeface="Lato Bold"/>
                  <a:ea typeface="Lato Bold"/>
                  <a:cs typeface="Lato Bold"/>
                  <a:sym typeface="Lato Bold"/>
                </a:rPr>
                <a:t>THANK YOU !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3734767" y="9739312"/>
            <a:ext cx="4114800" cy="547688"/>
            <a:chOff x="0" y="0"/>
            <a:chExt cx="5486400" cy="7302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5486400" cy="73977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C00000"/>
                  </a:solidFill>
                  <a:latin typeface="Lato Bold"/>
                  <a:ea typeface="Lato Bold"/>
                  <a:cs typeface="Lato Bold"/>
                  <a:sym typeface="Lato Bold"/>
                </a:rPr>
                <a:t>13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DAG45iViPf4</dc:identifier>
  <dcterms:modified xsi:type="dcterms:W3CDTF">2011-08-01T06:04:30Z</dcterms:modified>
  <cp:revision>1</cp:revision>
  <dc:title>IPSP: An image processing and storage pipeline</dc:title>
</cp:coreProperties>
</file>